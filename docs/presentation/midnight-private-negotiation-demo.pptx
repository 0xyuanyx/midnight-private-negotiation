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2ba6e7d4034768" /><Relationship Type="http://schemas.openxmlformats.org/officeDocument/2006/relationships/extended-properties" Target="/docProps/app.xml" Id="R658778c678eb45c4" /><Relationship Type="http://schemas.openxmlformats.org/officeDocument/2006/relationships/officeDocument" Target="/ppt/presentation.xml" Id="R1fdc4305537f4f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fbbaf361984f66"/>
  </p:sldMasterIdLst>
  <p:notesMasterIdLst>
    <p:notesMasterId xmlns:r="http://schemas.openxmlformats.org/officeDocument/2006/relationships" r:id="R88ec4884066a4e67"/>
  </p:notesMasterIdLst>
  <p:sldIdLst>
    <p:sldId xmlns:r="http://schemas.openxmlformats.org/officeDocument/2006/relationships" id="256" r:id="R9a7cd56a62a341ed"/>
    <p:sldId xmlns:r="http://schemas.openxmlformats.org/officeDocument/2006/relationships" id="257" r:id="R7071e279ee8042cb"/>
    <p:sldId xmlns:r="http://schemas.openxmlformats.org/officeDocument/2006/relationships" id="258" r:id="Ra7a393aee12a4856"/>
    <p:sldId xmlns:r="http://schemas.openxmlformats.org/officeDocument/2006/relationships" id="259" r:id="R2b33b533db684c4a"/>
    <p:sldId xmlns:r="http://schemas.openxmlformats.org/officeDocument/2006/relationships" id="260" r:id="Rc47253bac2864d06"/>
    <p:sldId xmlns:r="http://schemas.openxmlformats.org/officeDocument/2006/relationships" id="261" r:id="R32382a790d4b4a8b"/>
    <p:sldId xmlns:r="http://schemas.openxmlformats.org/officeDocument/2006/relationships" id="262" r:id="Rf4caeaa412f4435b"/>
    <p:sldId xmlns:r="http://schemas.openxmlformats.org/officeDocument/2006/relationships" id="263" r:id="Rb44950d07e3e46de"/>
    <p:sldId xmlns:r="http://schemas.openxmlformats.org/officeDocument/2006/relationships" id="264" r:id="R1d378cf3b892422a"/>
    <p:sldId xmlns:r="http://schemas.openxmlformats.org/officeDocument/2006/relationships" id="265" r:id="R3402e82c44144e3f"/>
    <p:sldId xmlns:r="http://schemas.openxmlformats.org/officeDocument/2006/relationships" id="266" r:id="Re631cdb0aff2441b"/>
    <p:sldId xmlns:r="http://schemas.openxmlformats.org/officeDocument/2006/relationships" id="267" r:id="R1d65b4e1956a4f61"/>
    <p:sldId xmlns:r="http://schemas.openxmlformats.org/officeDocument/2006/relationships" id="268" r:id="Rca07745124c44d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f6bcc42630407b" /><Relationship Type="http://schemas.openxmlformats.org/officeDocument/2006/relationships/slideMaster" Target="/ppt/slideMasters/slideMaster1.xml" Id="R8cfbbaf361984f66" /><Relationship Type="http://schemas.openxmlformats.org/officeDocument/2006/relationships/notesMaster" Target="/ppt/notesMasters/notesMaster1.xml" Id="R88ec4884066a4e67" /><Relationship Type="http://schemas.openxmlformats.org/officeDocument/2006/relationships/presProps" Target="/ppt/presProps.xml" Id="R9a25bdb56f154b18" /><Relationship Type="http://schemas.openxmlformats.org/officeDocument/2006/relationships/tableStyles" Target="/ppt/tableStyles.xml" Id="R81300c9f791c4eea" /><Relationship Type="http://schemas.openxmlformats.org/officeDocument/2006/relationships/slide" Target="/ppt/slides/slide1.xml" Id="R9a7cd56a62a341ed" /><Relationship Type="http://schemas.openxmlformats.org/officeDocument/2006/relationships/slide" Target="/ppt/slides/slide2.xml" Id="R7071e279ee8042cb" /><Relationship Type="http://schemas.openxmlformats.org/officeDocument/2006/relationships/slide" Target="/ppt/slides/slide3.xml" Id="Ra7a393aee12a4856" /><Relationship Type="http://schemas.openxmlformats.org/officeDocument/2006/relationships/slide" Target="/ppt/slides/slide4.xml" Id="R2b33b533db684c4a" /><Relationship Type="http://schemas.openxmlformats.org/officeDocument/2006/relationships/slide" Target="/ppt/slides/slide5.xml" Id="Rc47253bac2864d06" /><Relationship Type="http://schemas.openxmlformats.org/officeDocument/2006/relationships/slide" Target="/ppt/slides/slide6.xml" Id="R32382a790d4b4a8b" /><Relationship Type="http://schemas.openxmlformats.org/officeDocument/2006/relationships/slide" Target="/ppt/slides/slide7.xml" Id="Rf4caeaa412f4435b" /><Relationship Type="http://schemas.openxmlformats.org/officeDocument/2006/relationships/slide" Target="/ppt/slides/slide8.xml" Id="Rb44950d07e3e46de" /><Relationship Type="http://schemas.openxmlformats.org/officeDocument/2006/relationships/slide" Target="/ppt/slides/slide9.xml" Id="R1d378cf3b892422a" /><Relationship Type="http://schemas.openxmlformats.org/officeDocument/2006/relationships/slide" Target="/ppt/slides/slide10.xml" Id="R3402e82c44144e3f" /><Relationship Type="http://schemas.openxmlformats.org/officeDocument/2006/relationships/slide" Target="/ppt/slides/slide11.xml" Id="Re631cdb0aff2441b" /><Relationship Type="http://schemas.openxmlformats.org/officeDocument/2006/relationships/slide" Target="/ppt/slides/slide12.xml" Id="R1d65b4e1956a4f61" /><Relationship Type="http://schemas.openxmlformats.org/officeDocument/2006/relationships/slide" Target="/ppt/slides/slide13.xml" Id="Rca07745124c44d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a81a4b78f844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4b71db74e1451e" /><Relationship Type="http://schemas.openxmlformats.org/officeDocument/2006/relationships/notesMaster" Target="/ppt/notesMasters/notesMaster1.xml" Id="R2515aefaf0d444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d1085ccef04987" /><Relationship Type="http://schemas.openxmlformats.org/officeDocument/2006/relationships/notesMaster" Target="/ppt/notesMasters/notesMaster1.xml" Id="R871552f05bb940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0f60e8debe4956" /><Relationship Type="http://schemas.openxmlformats.org/officeDocument/2006/relationships/notesMaster" Target="/ppt/notesMasters/notesMaster1.xml" Id="R58328980e88f4d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65caf2b1c34643" /><Relationship Type="http://schemas.openxmlformats.org/officeDocument/2006/relationships/notesMaster" Target="/ppt/notesMasters/notesMaster1.xml" Id="R03ecfbfd32a54f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2228a250fd4a42" /><Relationship Type="http://schemas.openxmlformats.org/officeDocument/2006/relationships/notesMaster" Target="/ppt/notesMasters/notesMaster1.xml" Id="Rda2b867b87ff4a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4da22147e5455d" /><Relationship Type="http://schemas.openxmlformats.org/officeDocument/2006/relationships/notesMaster" Target="/ppt/notesMasters/notesMaster1.xml" Id="Rd5f550cc0b004a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cc29a9c8b34ef6" /><Relationship Type="http://schemas.openxmlformats.org/officeDocument/2006/relationships/notesMaster" Target="/ppt/notesMasters/notesMaster1.xml" Id="R2be1894b604743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b339845a304157" /><Relationship Type="http://schemas.openxmlformats.org/officeDocument/2006/relationships/notesMaster" Target="/ppt/notesMasters/notesMaster1.xml" Id="Rfbcebec7238e49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f5b7a6d70c483c" /><Relationship Type="http://schemas.openxmlformats.org/officeDocument/2006/relationships/notesMaster" Target="/ppt/notesMasters/notesMaster1.xml" Id="R060767cb029846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40e64ebd1d48af" /><Relationship Type="http://schemas.openxmlformats.org/officeDocument/2006/relationships/notesMaster" Target="/ppt/notesMasters/notesMaster1.xml" Id="R33a8a93acd7745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aceb726c64476c" /><Relationship Type="http://schemas.openxmlformats.org/officeDocument/2006/relationships/notesMaster" Target="/ppt/notesMasters/notesMaster1.xml" Id="R9d717777a7af4f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adeac799894ee7" /><Relationship Type="http://schemas.openxmlformats.org/officeDocument/2006/relationships/notesMaster" Target="/ppt/notesMasters/notesMaster1.xml" Id="Ree57c2e06ddb475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ec0e31308a74c88" /><Relationship Type="http://schemas.openxmlformats.org/officeDocument/2006/relationships/notesMaster" Target="/ppt/notesMasters/notesMaster1.xml" Id="Rfeeec35697d048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오프닝: 이 데모는 AI 대화를 보여주는 데모가 아니라 비밀이 어디까지 이동하는지 보여주는 데모입니다. 구매·판매 한도는 각자 로컬에 남고, 성공한 최종 가격만 공개됩니다.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https://midnight.network/overview</a:t>
            </a:r>
          </a:p>
          <a:p xmlns:a="http://schemas.openxmlformats.org/drawingml/2006/main">
            <a:r>
              <a:t>- https://midnight.network/brand-hub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중앙 서버에 한도를 모두 보내면 그 서버가 가장 큰 신뢰 대상이 됩니다. 온체인에서 값을 감춰도 외부 AI prompt에 넣으면 서비스 신뢰 경계는 넓어집니다.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https://midnight.network/overview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Buyer, Seller, Observer는 서로 다른 PID로 실행됩니다. Controller는 양쪽 한도를 저장하지 않고, 브라우저에는 검증된 정제 이벤트만 보냅니다.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packages/demo-controller/src/orchestrator.ts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모델은 정확한 한도를 받지 않습니다. 공개된 현재 제안과 기준가로 후보만 만들고, 전송·수락 가능한지는 역할 프로세스 안의 PolicyGuard가 자기 한도로 결정합니다.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packages/agent-core/src/index.ts</a:t>
            </a:r>
          </a:p>
          <a:p xmlns:a="http://schemas.openxmlformats.org/drawingml/2006/main">
            <a:r>
              <a:t>- https://developers.openai.com/api/reference/resources/responses/methods/create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같은 대화에 후보 거절 사실을 알려주면 반복된 성공·실패가 한도 신호가 될 수 있습니다. 그래서 previous response나 conversation을 쓰지 않습니다. store:false는 조직 단위 ZDR과 같다고 표현하지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https://developers.openai.com/api/docs/guides/migrate-to-responses</a:t>
            </a:r>
          </a:p>
          <a:p xmlns:a="http://schemas.openxmlformats.org/drawingml/2006/main">
            <a:r>
              <a:t>- https://developers.openai.com/api/reference/resources/responses/methods/create</a:t>
            </a:r>
          </a:p>
          <a:p xmlns:a="http://schemas.openxmlformats.org/drawingml/2006/main">
            <a:r>
              <a:t>- Local source: packages/agent-core/src/index.ts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Buyer와 Seller가 Relay에 직접 연결합니다. 암호화된 payload와 인증 메타데이터만 전달하며, 방·역할·순번을 바꾼 패킷은 인증에 실패합니다.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packages/room-relay/src/index.ts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ledger는 공개 계약 상태이고 witness는 proof 생성 시 로컬에서 제공되는 비공개 값입니다. KRW 범위를 위해 가격과 한도는 Uint64를 사용합니다.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https://midnight.network/overview</a:t>
            </a:r>
          </a:p>
          <a:p xmlns:a="http://schemas.openxmlformats.org/drawingml/2006/main">
            <a:r>
              <a:t>- Local source: packages/negotiation-contract/src/negotiation.compact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Buyer는 합의 가격이 자기 최대 한도 이하임을, Seller는 자기 최소 금액 이상임을 증명합니다. 두 조건이 끝난 settle에서만 최종 가격을 공개합니다.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packages/negotiation-contract/src/negotiation.compact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Observer는 Indexer가 확인한 공개 상태만 표시합니다. AUTHORIZED에서는 금액이 없고, SETTLED에서 처음 최종 금액이 나타나는 대비가 핵심입니다.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https://midnight.network/overview</a:t>
            </a:r>
          </a:p>
          <a:p xmlns:a="http://schemas.openxmlformats.org/drawingml/2006/main">
            <a:r>
              <a:t>- Local source: packages/negotiation-contract/src/negotiation.compact</a:t>
            </a:r>
          </a:p>
          <a:p xmlns:a="http://schemas.openxmlformats.org/drawingml/2006/main">
            <a:r>
              <a:t>- Local source: packages/observer-runtime/src/index.ts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패널은 단순한 시각 장식이 아니라 세 신뢰 경계를 한 화면에 놓은 것입니다. 색은 문장 전체가 아니라 비공개·증명·최종 공개 토큰에만 사용합니다.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.calm-design/DESIGN.md</a:t>
            </a:r>
          </a:p>
          <a:p xmlns:a="http://schemas.openxmlformats.org/drawingml/2006/main">
            <a:r>
              <a:t>- Local source: apps/demo-web/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Happy path는 Buyer 110,000원, Seller 90,000원입니다. 양쪽 자기 한도는 자기 패널에만 보이고, Observer는 AUTHORIZED에서 금액 없이 기다린 뒤 SETTLED에서만 100,000원을 보여줍니다.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screenshot: /Users/taemin/Desktop/스크린샷 2026-07-26 오전 7.25.03.png</a:t>
            </a:r>
          </a:p>
          <a:p xmlns:a="http://schemas.openxmlformats.org/drawingml/2006/main">
            <a:r>
              <a:t>- Local source: apps/demo-web/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성공 결과만 보지 않고 비밀 필드가 request, IPC, Relay, Observer에 나타나지 않는지 함께 검사합니다. 실제 OpenAI endpoint에는 도달했지만 프로젝트 quota 때문에 모델 후보 품질은 아직 재검증이 필요합니다.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package test suites under packages/*/test and apps/demo-web/</a:t>
            </a:r>
          </a:p>
          <a:p xmlns:a="http://schemas.openxmlformats.org/drawingml/2006/main">
            <a:r>
              <a:t>- Local source: scripts/test-openai-negotiation.mjs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 문장: 우리는 AI에게 비밀을 맡기지 않았습니다. AI는 후보를 만들고, 로컬 정책이 결정하며, Midnight가 결과를 증명합니다.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https://midnight.network/overview</a:t>
            </a:r>
          </a:p>
          <a:p xmlns:a="http://schemas.openxmlformats.org/drawingml/2006/main">
            <a:r>
              <a:t>- Local source: packages/agent-core/src/index.ts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f27b3fd69747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848bef543a4018" /><Relationship Type="http://schemas.openxmlformats.org/officeDocument/2006/relationships/slideLayout" Target="/ppt/slideLayouts/slideLayout1.xml" Id="R11d6a8d2cdfb40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d6a8d2cdfb40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c15f456b24dc8" /><Relationship Type="http://schemas.openxmlformats.org/officeDocument/2006/relationships/image" Target="/ppt/media/image.png" Id="R4f6bb5e3364b4751" /><Relationship Type="http://schemas.openxmlformats.org/officeDocument/2006/relationships/notesSlide" Target="/ppt/notesSlides/notesSlide1.xml" Id="Ra2e85e4bf6fd4e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067ce65574d14" /><Relationship Type="http://schemas.openxmlformats.org/officeDocument/2006/relationships/notesSlide" Target="/ppt/notesSlides/notesSlide2.xml" Id="R06bdbe6455344b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54fa1474e4ccb" /><Relationship Type="http://schemas.openxmlformats.org/officeDocument/2006/relationships/notesSlide" Target="/ppt/notesSlides/notesSlide3.xml" Id="Rb39355e7582440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df4e95d734097" /><Relationship Type="http://schemas.openxmlformats.org/officeDocument/2006/relationships/notesSlide" Target="/ppt/notesSlides/notesSlide4.xml" Id="Rf9da1f82c21643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60d15a51d4b4b" /><Relationship Type="http://schemas.openxmlformats.org/officeDocument/2006/relationships/notesSlide" Target="/ppt/notesSlides/notesSlide5.xml" Id="Rec62b15485de47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6d6763b51443d" /><Relationship Type="http://schemas.openxmlformats.org/officeDocument/2006/relationships/notesSlide" Target="/ppt/notesSlides/notesSlide6.xml" Id="Ref7d044737cc49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0a9458f86e4393" /><Relationship Type="http://schemas.openxmlformats.org/officeDocument/2006/relationships/notesSlide" Target="/ppt/notesSlides/notesSlide7.xml" Id="R5469763b1ea44a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0424eb9ac469b" /><Relationship Type="http://schemas.openxmlformats.org/officeDocument/2006/relationships/notesSlide" Target="/ppt/notesSlides/notesSlide8.xml" Id="R3e1ce95fba1644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9050cae31482f" /><Relationship Type="http://schemas.openxmlformats.org/officeDocument/2006/relationships/notesSlide" Target="/ppt/notesSlides/notesSlide9.xml" Id="Rf92327488d1744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af27a537d4dd4" /><Relationship Type="http://schemas.openxmlformats.org/officeDocument/2006/relationships/notesSlide" Target="/ppt/notesSlides/notesSlide10.xml" Id="Rba6aa49d2d344b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b2dd8491a47d0" /><Relationship Type="http://schemas.openxmlformats.org/officeDocument/2006/relationships/image" Target="/ppt/media/image2.png" Id="R46f6acf00150445d" /><Relationship Type="http://schemas.openxmlformats.org/officeDocument/2006/relationships/notesSlide" Target="/ppt/notesSlides/notesSlide11.xml" Id="R31682030b88741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f73bf23d44672" /><Relationship Type="http://schemas.openxmlformats.org/officeDocument/2006/relationships/notesSlide" Target="/ppt/notesSlides/notesSlide12.xml" Id="R43a0ad6cc18e494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45b866cf4422e" /><Relationship Type="http://schemas.openxmlformats.org/officeDocument/2006/relationships/image" Target="/ppt/media/image3.png" Id="Rd9be38f82adc4c68" /><Relationship Type="http://schemas.openxmlformats.org/officeDocument/2006/relationships/notesSlide" Target="/ppt/notesSlides/notesSlide13.xml" Id="R36ef36d77fd342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6bb5e3364b4751"/>
          <a:stretch xmlns:a="http://schemas.openxmlformats.org/drawingml/2006/main"/>
        </p:blipFill>
        <p:spPr>
          <a:xfrm xmlns:a="http://schemas.openxmlformats.org/drawingml/2006/main">
            <a:off x="609600" y="419726"/>
            <a:ext cx="1752600" cy="37974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C458F-C3F6-49DC-A4C1-0E828F74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4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한도는 숨기고,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4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4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합의만 증명한다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EA78E-2867-40E7-BD54-22E9C096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FFFFFF"/>
                </a:solidFill>
                <a:latin typeface="Outfit"/>
                <a:ea typeface="Outfit"/>
                <a:cs typeface="Outfit"/>
              </a:defRPr>
            </a:pPr>
            <a:r>
              <a:rPr sz="1650" b="0">
                <a:solidFill>
                  <a:srgbClr val="FFFFFF"/>
                </a:solidFill>
                <a:latin typeface="Outfit"/>
                <a:ea typeface="Outfit"/>
                <a:cs typeface="Outfit"/>
              </a:rPr>
              <a:t>PRIVATE LIMITS</a:t>
            </a:r>
            <a:r>
              <a:rPr sz="1650" b="0">
                <a:solidFill>
                  <a:srgbClr val="FFFFFF"/>
                </a:solidFill>
                <a:latin typeface="Outfit"/>
                <a:ea typeface="Outfit"/>
                <a:cs typeface="Outfit"/>
              </a:rPr>
              <a:t>  →  </a:t>
            </a:r>
            <a:r>
              <a:rPr sz="1650" b="0">
                <a:solidFill>
                  <a:srgbClr val="FFFFFF"/>
                </a:solidFill>
                <a:latin typeface="Outfit"/>
                <a:ea typeface="Outfit"/>
                <a:cs typeface="Outfit"/>
              </a:rPr>
              <a:t>PROVEN AGREEMENT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ABB97-0E1A-423D-85AD-275225E7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9C9C9C"/>
                </a:solidFill>
                <a:latin typeface="Outfit"/>
                <a:ea typeface="Outfit"/>
                <a:cs typeface="Outfit"/>
              </a:defRPr>
            </a:pPr>
            <a:r>
              <a:rPr sz="1500" b="0">
                <a:solidFill>
                  <a:srgbClr val="9C9C9C"/>
                </a:solidFill>
                <a:latin typeface="Outfit"/>
                <a:ea typeface="Outfit"/>
                <a:cs typeface="Outfit"/>
              </a:rPr>
              <a:t>AI agents × Local policy × Zero-knowledge proof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AF60E-BA0F-416D-B6E1-88E608C0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0" cy="3524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E70EE-A24E-418C-B364-79BD6D4F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B3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83DE7-C358-4D68-972C-44DA7A00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478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D0B36C"/>
                </a:solidFill>
                <a:latin typeface="Outfit"/>
                <a:ea typeface="Outfit"/>
                <a:cs typeface="Outfit"/>
              </a:defRPr>
            </a:pPr>
            <a:r>
              <a:rPr sz="1350" b="1">
                <a:solidFill>
                  <a:srgbClr val="D0B36C"/>
                </a:solidFill>
                <a:latin typeface="Outfit"/>
                <a:ea typeface="Outfit"/>
                <a:cs typeface="Outfit"/>
              </a:rPr>
              <a:t>PRIVATE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B47F2-BB30-4890-8A7A-7559B5AA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05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9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F55B3C-7AF4-4A6E-8C5C-F5BC38C3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003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9A9AFF"/>
                </a:solidFill>
                <a:latin typeface="Outfit"/>
                <a:ea typeface="Outfit"/>
                <a:cs typeface="Outfit"/>
              </a:defRPr>
            </a:pPr>
            <a:r>
              <a:rPr sz="1350" b="1">
                <a:solidFill>
                  <a:srgbClr val="9A9AFF"/>
                </a:solidFill>
                <a:latin typeface="Outfit"/>
                <a:ea typeface="Outfit"/>
                <a:cs typeface="Outfit"/>
              </a:rPr>
              <a:t>PROVEN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3239E-77CE-4A50-9752-C635CA56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57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B8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06BC3-38E8-4967-B204-F1DC6506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9528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9FB8A3"/>
                </a:solidFill>
                <a:latin typeface="Outfit"/>
                <a:ea typeface="Outfit"/>
                <a:cs typeface="Outfit"/>
              </a:defRPr>
            </a:pPr>
            <a:r>
              <a:rPr sz="1350" b="1">
                <a:solidFill>
                  <a:srgbClr val="9FB8A3"/>
                </a:solidFill>
                <a:latin typeface="Outfit"/>
                <a:ea typeface="Outfit"/>
                <a:cs typeface="Outfit"/>
              </a:rPr>
              <a:t>DISCLOSED ONCE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A7A049-390A-4DE4-A368-1199589B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D5CBCB-04C3-4E13-8922-C9963246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1">
                <a:solidFill>
                  <a:srgbClr val="666666"/>
                </a:solidFill>
                <a:latin typeface="Outfit"/>
                <a:ea typeface="Outfit"/>
                <a:cs typeface="Outfit"/>
              </a:defRPr>
            </a:pPr>
            <a:r>
              <a:rPr sz="825" b="1">
                <a:solidFill>
                  <a:srgbClr val="666666"/>
                </a:solidFill>
                <a:latin typeface="Outfit"/>
                <a:ea typeface="Outfit"/>
                <a:cs typeface="Outfit"/>
              </a:rPr>
              <a:t>MIDNIGHT PRIVATE NEGOTIATION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786A66-756F-42E9-A21C-E98E79AB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6666"/>
                </a:solidFill>
                <a:latin typeface="Outfit"/>
                <a:ea typeface="Outfit"/>
                <a:cs typeface="Outfit"/>
              </a:defRPr>
            </a:pPr>
            <a:r>
              <a:rPr sz="825" b="0">
                <a:solidFill>
                  <a:srgbClr val="666666"/>
                </a:solidFill>
                <a:latin typeface="Outfit"/>
                <a:ea typeface="Outfit"/>
                <a:cs typeface="Outfi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887035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9C4CDB-DE2E-45A5-BBAA-8CD4AD23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0000FE"/>
                </a:solidFill>
                <a:latin typeface="Outfit"/>
                <a:ea typeface="Outfit"/>
                <a:cs typeface="Outfit"/>
              </a:defRPr>
            </a:pPr>
            <a:r>
              <a:rPr sz="975" b="1">
                <a:solidFill>
                  <a:srgbClr val="0000FE"/>
                </a:solidFill>
                <a:latin typeface="Outfit"/>
                <a:ea typeface="Outfit"/>
                <a:cs typeface="Outfit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3F8FB-76FC-4E9B-82D4-6F0B171A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기존 협상은 신뢰를 한곳에 몰아넣는다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044ED-277F-4DAD-9558-7BD0519F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130BF0-1118-48DD-A138-5EFE87A3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1">
                <a:solidFill>
                  <a:srgbClr val="666666"/>
                </a:solidFill>
                <a:latin typeface="Outfit"/>
                <a:ea typeface="Outfit"/>
                <a:cs typeface="Outfit"/>
              </a:defRPr>
            </a:pPr>
            <a:r>
              <a:rPr sz="825" b="1">
                <a:solidFill>
                  <a:srgbClr val="666666"/>
                </a:solidFill>
                <a:latin typeface="Outfit"/>
                <a:ea typeface="Outfit"/>
                <a:cs typeface="Outfit"/>
              </a:rPr>
              <a:t>PRIVATE NEGOTIATION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DFB43-BEE4-4038-989E-8CCF4A28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6666"/>
                </a:solidFill>
                <a:latin typeface="Outfit"/>
                <a:ea typeface="Outfit"/>
                <a:cs typeface="Outfit"/>
              </a:defRPr>
            </a:pPr>
            <a:r>
              <a:rPr sz="825" b="0">
                <a:solidFill>
                  <a:srgbClr val="666666"/>
                </a:solidFill>
                <a:latin typeface="Outfit"/>
                <a:ea typeface="Outfit"/>
                <a:cs typeface="Outfit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2CAA5-289B-49F7-840A-8044371C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666666"/>
                </a:solidFill>
                <a:latin typeface="Outfit"/>
                <a:ea typeface="Outfit"/>
                <a:cs typeface="Outfit"/>
              </a:defRPr>
            </a:pPr>
            <a:r>
              <a:rPr sz="1350" b="1">
                <a:solidFill>
                  <a:srgbClr val="666666"/>
                </a:solidFill>
                <a:latin typeface="Outfit"/>
                <a:ea typeface="Outfit"/>
                <a:cs typeface="Outfit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DE8401-A08A-4789-B6A3-9A67FFC9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8097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플랫폼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D9A019-C2FB-42DB-BEC0-620DB79F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57375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양쪽 한도를 모두 본다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2851C9-5F6D-4727-A8D8-1902FF2F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95550"/>
            <a:ext cx="931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46807-3BE8-4707-A82C-3EE23B7F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666666"/>
                </a:solidFill>
                <a:latin typeface="Outfit"/>
                <a:ea typeface="Outfit"/>
                <a:cs typeface="Outfit"/>
              </a:defRPr>
            </a:pPr>
            <a:r>
              <a:rPr sz="1350" b="1">
                <a:solidFill>
                  <a:srgbClr val="666666"/>
                </a:solidFill>
                <a:latin typeface="Outfit"/>
                <a:ea typeface="Outfit"/>
                <a:cs typeface="Outfit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323B74-955E-463C-BDB4-54778FC9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527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D0B36C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D0B36C"/>
                </a:solidFill>
                <a:latin typeface="Pretendard"/>
                <a:ea typeface="Pretendard"/>
                <a:cs typeface="Pretendard"/>
              </a:rPr>
              <a:t>AI prompt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02A4A-DDB2-4DFB-AC32-F6945BB3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000375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비공개 값을 모델 제공자에게 보낸다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553972-CA56-4FDC-A4F5-700E6623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38550"/>
            <a:ext cx="931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307345-9332-4608-A4C5-B2F909C8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666666"/>
                </a:solidFill>
                <a:latin typeface="Outfit"/>
                <a:ea typeface="Outfit"/>
                <a:cs typeface="Outfit"/>
              </a:defRPr>
            </a:pPr>
            <a:r>
              <a:rPr sz="1350" b="1">
                <a:solidFill>
                  <a:srgbClr val="666666"/>
                </a:solidFill>
                <a:latin typeface="Outfit"/>
                <a:ea typeface="Outfit"/>
                <a:cs typeface="Outfit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5F9D9-2C80-4DDD-A073-CCEC234F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957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D65C5C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D65C5C"/>
                </a:solidFill>
                <a:latin typeface="Pretendard"/>
                <a:ea typeface="Pretendard"/>
                <a:cs typeface="Pretendard"/>
              </a:rPr>
              <a:t>공개 원장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D8D5A6-7578-474C-BB62-ED6BAD9B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143375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원문 공개는 되돌릴 수 없다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42F257-424F-4254-8A9C-E30F847C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81550"/>
            <a:ext cx="931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2AB7DE-6589-4F1B-B53F-09430DAE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31495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9C9C9C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9C9C9C"/>
                </a:solidFill>
                <a:latin typeface="Pretendard"/>
                <a:ea typeface="Pretendard"/>
                <a:cs typeface="Pretendard"/>
              </a:rPr>
              <a:t>문제는 협상 알고리즘보다 누가 비밀을 볼 수 있는가다.</a:t>
            </a:r>
          </a:p>
        </p:txBody>
      </p:sp>
    </p:spTree>
    <p:extLst>
      <p:ext uri="{BB962C8B-B14F-4D97-AF65-F5344CB8AC3E}">
        <p14:creationId xmlns:p14="http://schemas.microsoft.com/office/powerpoint/2010/main" val="8166335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753C8A-1F41-4792-A44B-6920FAF5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0000FE"/>
                </a:solidFill>
                <a:latin typeface="Outfit"/>
                <a:ea typeface="Outfit"/>
                <a:cs typeface="Outfit"/>
              </a:defRPr>
            </a:pPr>
            <a:r>
              <a:rPr sz="975" b="1">
                <a:solidFill>
                  <a:srgbClr val="0000FE"/>
                </a:solidFill>
                <a:latin typeface="Outfit"/>
                <a:ea typeface="Outfit"/>
                <a:cs typeface="Outfit"/>
              </a:rPr>
              <a:t>TRUST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18D46-9627-4C20-9E26-672A4647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역할을 나누면 비밀의 이동 경로가 짧아진다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44F14-77D5-44CC-A13C-055E39F7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F904D-6BA9-447C-B4BE-49FAF3F5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1">
                <a:solidFill>
                  <a:srgbClr val="666666"/>
                </a:solidFill>
                <a:latin typeface="Outfit"/>
                <a:ea typeface="Outfit"/>
                <a:cs typeface="Outfit"/>
              </a:defRPr>
            </a:pPr>
            <a:r>
              <a:rPr sz="825" b="1">
                <a:solidFill>
                  <a:srgbClr val="666666"/>
                </a:solidFill>
                <a:latin typeface="Outfit"/>
                <a:ea typeface="Outfit"/>
                <a:cs typeface="Outfit"/>
              </a:rPr>
              <a:t>PRIVATE NEGOTIATION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78412-62FA-4148-BE27-6C96581B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6666"/>
                </a:solidFill>
                <a:latin typeface="Outfit"/>
                <a:ea typeface="Outfit"/>
                <a:cs typeface="Outfit"/>
              </a:defRPr>
            </a:pPr>
            <a:r>
              <a:rPr sz="825" b="0">
                <a:solidFill>
                  <a:srgbClr val="666666"/>
                </a:solidFill>
                <a:latin typeface="Outfit"/>
                <a:ea typeface="Outfit"/>
                <a:cs typeface="Outfit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BDC78-BAA7-4F1F-9F7E-7D75EC0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52750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343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897BB-6CFE-4973-8E7A-281467B1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52750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343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949DFB-1B73-4A40-81FB-E386590B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EF8E04-DE0D-43E4-9AA1-95316DCD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20955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1EF581-89FB-49C2-97E0-9037B518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193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A9C2E6"/>
                </a:solidFill>
                <a:latin typeface="Outfit"/>
                <a:ea typeface="Outfit"/>
                <a:cs typeface="Outfit"/>
              </a:defRPr>
            </a:pPr>
            <a:r>
              <a:rPr sz="1350" b="1">
                <a:solidFill>
                  <a:srgbClr val="A9C2E6"/>
                </a:solidFill>
                <a:latin typeface="Outfit"/>
                <a:ea typeface="Outfit"/>
                <a:cs typeface="Outfit"/>
              </a:rPr>
              <a:t>BUYER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7D5B8-147E-4639-B0F2-F3EF876F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9C9C9C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9C9C9C"/>
                </a:solidFill>
                <a:latin typeface="Pretendard"/>
                <a:ea typeface="Pretendard"/>
                <a:cs typeface="Pretendard"/>
              </a:rPr>
              <a:t>최대 한도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9C9C9C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9C9C9C"/>
                </a:solidFill>
                <a:latin typeface="Pretendard"/>
                <a:ea typeface="Pretendard"/>
                <a:cs typeface="Pretendard"/>
              </a:rPr>
              <a:t>난수 · 비밀키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7F63BF-B65E-4C8F-9B1D-88619CD7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19300"/>
            <a:ext cx="2476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F77634-F54D-48EC-B7C6-06830A81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288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FFFFFF"/>
                </a:solidFill>
                <a:latin typeface="Outfit"/>
                <a:ea typeface="Outfit"/>
                <a:cs typeface="Outfit"/>
              </a:defRPr>
            </a:pPr>
            <a:r>
              <a:rPr sz="1350" b="1">
                <a:solidFill>
                  <a:srgbClr val="FFFFFF"/>
                </a:solidFill>
                <a:latin typeface="Outfit"/>
                <a:ea typeface="Outfit"/>
                <a:cs typeface="Outfit"/>
              </a:rPr>
              <a:t>CONTROLLER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907C8E-C5F7-4594-A734-12E63BE4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670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9C9C9C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9C9C9C"/>
                </a:solidFill>
                <a:latin typeface="Pretendard"/>
                <a:ea typeface="Pretendard"/>
                <a:cs typeface="Pretendard"/>
              </a:rPr>
              <a:t>명령 전달 · 정제 이벤트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65FEFC-1D02-4418-8FCB-93E31EBD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09800"/>
            <a:ext cx="20955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D0FA5A-61A3-4D15-8341-8FD2738D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193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D6B879"/>
                </a:solidFill>
                <a:latin typeface="Outfit"/>
                <a:ea typeface="Outfit"/>
                <a:cs typeface="Outfit"/>
              </a:defRPr>
            </a:pPr>
            <a:r>
              <a:rPr sz="1350" b="1">
                <a:solidFill>
                  <a:srgbClr val="D6B879"/>
                </a:solidFill>
                <a:latin typeface="Outfit"/>
                <a:ea typeface="Outfit"/>
                <a:cs typeface="Outfit"/>
              </a:rPr>
              <a:t>SELLER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7786C6-7D8F-460C-9A8F-D884D76A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57500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9C9C9C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9C9C9C"/>
                </a:solidFill>
                <a:latin typeface="Pretendard"/>
                <a:ea typeface="Pretendard"/>
                <a:cs typeface="Pretendard"/>
              </a:rPr>
              <a:t>최소 금액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9C9C9C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9C9C9C"/>
                </a:solidFill>
                <a:latin typeface="Pretendard"/>
                <a:ea typeface="Pretendard"/>
                <a:cs typeface="Pretendard"/>
              </a:rPr>
              <a:t>난수 · 비밀키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2BFF55-1E2D-4CEC-958A-2B876CB3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05250"/>
            <a:ext cx="2476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9827FB-89E0-4673-9F6A-8B1A24DA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148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FFFFFF"/>
                </a:solidFill>
                <a:latin typeface="Outfit"/>
                <a:ea typeface="Outfit"/>
                <a:cs typeface="Outfit"/>
              </a:defRPr>
            </a:pPr>
            <a:r>
              <a:rPr sz="1350" b="1">
                <a:solidFill>
                  <a:srgbClr val="FFFFFF"/>
                </a:solidFill>
                <a:latin typeface="Outfit"/>
                <a:ea typeface="Outfit"/>
                <a:cs typeface="Outfit"/>
              </a:rPr>
              <a:t>OBSERVER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221FDF-7CAA-4E7C-B06D-E4D90359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529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9C9C9C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9C9C9C"/>
                </a:solidFill>
                <a:latin typeface="Pretendard"/>
                <a:ea typeface="Pretendard"/>
                <a:cs typeface="Pretendard"/>
              </a:rPr>
              <a:t>Indexer · 공개 상태만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E476EA-5B12-4006-A994-9A3BB686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334000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25" b="1">
                <a:solidFill>
                  <a:srgbClr val="9A9A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9A9AFF"/>
                </a:solidFill>
                <a:latin typeface="Pretendard"/>
                <a:ea typeface="Pretendard"/>
                <a:cs typeface="Pretendard"/>
              </a:rPr>
              <a:t>별도 프로세스 · 필요한 환경만 · 서로의 private state 없음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381267-4720-4332-BFCE-B40377C8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10250"/>
            <a:ext cx="800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0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9C9C9C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9C9C9C"/>
                </a:solidFill>
                <a:latin typeface="Pretendard"/>
                <a:ea typeface="Pretendard"/>
                <a:cs typeface="Pretendard"/>
              </a:rPr>
              <a:t>Observer에는 지갑, proof server, OpenAI key를 전달하지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7060446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63CD0F-6F1D-4BB8-87C0-E05D7A40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0000FE"/>
                </a:solidFill>
                <a:latin typeface="Outfit"/>
                <a:ea typeface="Outfit"/>
                <a:cs typeface="Outfit"/>
              </a:defRPr>
            </a:pPr>
            <a:r>
              <a:rPr sz="975" b="1">
                <a:solidFill>
                  <a:srgbClr val="0000FE"/>
                </a:solidFill>
                <a:latin typeface="Outfit"/>
                <a:ea typeface="Outfit"/>
                <a:cs typeface="Outfit"/>
              </a:rPr>
              <a:t>AI ROLE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9B794-AEA8-45E2-9FBD-F9750929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GPT는 정책 결정자가 아니라 후보 생성기다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1F8AA-74CF-4823-BEE0-46B462EF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E96FF9-1900-4594-8120-443001BF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1">
                <a:solidFill>
                  <a:srgbClr val="666666"/>
                </a:solidFill>
                <a:latin typeface="Outfit"/>
                <a:ea typeface="Outfit"/>
                <a:cs typeface="Outfit"/>
              </a:defRPr>
            </a:pPr>
            <a:r>
              <a:rPr sz="825" b="1">
                <a:solidFill>
                  <a:srgbClr val="666666"/>
                </a:solidFill>
                <a:latin typeface="Outfit"/>
                <a:ea typeface="Outfit"/>
                <a:cs typeface="Outfit"/>
              </a:rPr>
              <a:t>PRIVATE NEGOTIATION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7D7EB-68E3-41EB-9847-D0BAFC64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6666"/>
                </a:solidFill>
                <a:latin typeface="Outfit"/>
                <a:ea typeface="Outfit"/>
                <a:cs typeface="Outfit"/>
              </a:defRPr>
            </a:pPr>
            <a:r>
              <a:rPr sz="825" b="0">
                <a:solidFill>
                  <a:srgbClr val="666666"/>
                </a:solidFill>
                <a:latin typeface="Outfit"/>
                <a:ea typeface="Outfit"/>
                <a:cs typeface="Outfit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0B83D-680A-49F8-9D3B-85D0814B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76575"/>
            <a:ext cx="1085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343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265CB-25DC-459D-83D9-47B38EBC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76575"/>
            <a:ext cx="121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343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D2F066-DBCD-4232-A5C8-314F0D75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0955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B7A795-16E4-4384-AB41-1D20C721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D0B36C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D0B36C"/>
                </a:solidFill>
                <a:latin typeface="Pretendard"/>
                <a:ea typeface="Pretendard"/>
                <a:cs typeface="Pretendard"/>
              </a:rPr>
              <a:t>공개 맥락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27F2C-6FAD-4862-B0A0-F037F68F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7180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9C9C9C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9C9C9C"/>
                </a:solidFill>
                <a:latin typeface="Pretendard"/>
                <a:ea typeface="Pretendard"/>
                <a:cs typeface="Pretendard"/>
              </a:rPr>
              <a:t>role · code · round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9C9C9C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9C9C9C"/>
                </a:solidFill>
                <a:latin typeface="Pretendard"/>
                <a:ea typeface="Pretendard"/>
                <a:cs typeface="Pretendard"/>
              </a:rPr>
              <a:t>reference · current offer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33E329-123F-4851-A468-F41C90FB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095500"/>
            <a:ext cx="20955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CE48B9-0387-4F37-A0FE-48B3D91D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343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9A9A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9A9AFF"/>
                </a:solidFill>
                <a:latin typeface="Pretendard"/>
                <a:ea typeface="Pretendard"/>
                <a:cs typeface="Pretendard"/>
              </a:rPr>
              <a:t>GPT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3FFBEE-9272-4ECB-9705-92ABEFAA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97180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9C9C9C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9C9C9C"/>
                </a:solidFill>
                <a:latin typeface="Pretendard"/>
                <a:ea typeface="Pretendard"/>
                <a:cs typeface="Pretendard"/>
              </a:rPr>
              <a:t>후보 행동·금액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9C9C9C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9C9C9C"/>
                </a:solidFill>
                <a:latin typeface="Pretendard"/>
                <a:ea typeface="Pretendard"/>
                <a:cs typeface="Pretendard"/>
              </a:rPr>
              <a:t>최대 5개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9AEDFC-FC7C-4451-83E6-8C4F3B0B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20955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59EF5B-2338-4CCD-BB7A-70A377D2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43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9FB8A3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9FB8A3"/>
                </a:solidFill>
                <a:latin typeface="Pretendard"/>
                <a:ea typeface="Pretendard"/>
                <a:cs typeface="Pretendard"/>
              </a:rPr>
              <a:t>PolicyGuard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02457F-752D-4C8C-9BE3-7A3C5B7B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7180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9C9C9C"/>
                </a:solidFill>
                <a:latin typeface="Outfit"/>
                <a:ea typeface="Outfit"/>
                <a:cs typeface="Outfit"/>
              </a:defRPr>
            </a:pPr>
            <a:r>
              <a:rPr sz="1350" b="0">
                <a:solidFill>
                  <a:srgbClr val="9C9C9C"/>
                </a:solidFill>
                <a:latin typeface="Outfit"/>
                <a:ea typeface="Outfit"/>
                <a:cs typeface="Outfit"/>
              </a:rPr>
              <a:t>Buyer: price ≤ max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9C9C9C"/>
                </a:solidFill>
                <a:latin typeface="Outfit"/>
                <a:ea typeface="Outfit"/>
                <a:cs typeface="Outfit"/>
              </a:defRPr>
            </a:pPr>
            <a:r>
              <a:rPr sz="1350" b="0">
                <a:solidFill>
                  <a:srgbClr val="9C9C9C"/>
                </a:solidFill>
                <a:latin typeface="Outfit"/>
                <a:ea typeface="Outfit"/>
                <a:cs typeface="Outfit"/>
              </a:rPr>
              <a:t>Seller: min ≤ price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0BBAF7-DB33-4329-A98E-E5EF9BB9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62200"/>
            <a:ext cx="1371600" cy="1409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FB8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4FB2CE-657C-4E27-8EA2-826D90B5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609850"/>
            <a:ext cx="914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0A0A0A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통과한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0A0A0A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후보만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0A0A0A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전송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0DFB7E-602A-4747-BC97-3166DB74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3395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AI는 제안한다. 로컬 정책이 결정한다.</a:t>
            </a:r>
          </a:p>
        </p:txBody>
      </p:sp>
    </p:spTree>
    <p:extLst>
      <p:ext uri="{BB962C8B-B14F-4D97-AF65-F5344CB8AC3E}">
        <p14:creationId xmlns:p14="http://schemas.microsoft.com/office/powerpoint/2010/main" val="12192571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A0E2F8-C02A-489A-A19A-FA10B17C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0000FE"/>
                </a:solidFill>
                <a:latin typeface="Outfit"/>
                <a:ea typeface="Outfit"/>
                <a:cs typeface="Outfit"/>
              </a:defRPr>
            </a:pPr>
            <a:r>
              <a:rPr sz="975" b="1">
                <a:solidFill>
                  <a:srgbClr val="0000FE"/>
                </a:solidFill>
                <a:latin typeface="Outfit"/>
                <a:ea typeface="Outfit"/>
                <a:cs typeface="Outfit"/>
              </a:rPr>
              <a:t>STATELESS PRIVACY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32E77-C669-4726-B10C-CC6A31A3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재요청도 한도 신호가 되지 않게 만든다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FB55E-C7D9-4987-83DD-01528FFC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369C10-A366-49D6-883B-7F7CFB49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1">
                <a:solidFill>
                  <a:srgbClr val="666666"/>
                </a:solidFill>
                <a:latin typeface="Outfit"/>
                <a:ea typeface="Outfit"/>
                <a:cs typeface="Outfit"/>
              </a:defRPr>
            </a:pPr>
            <a:r>
              <a:rPr sz="825" b="1">
                <a:solidFill>
                  <a:srgbClr val="666666"/>
                </a:solidFill>
                <a:latin typeface="Outfit"/>
                <a:ea typeface="Outfit"/>
                <a:cs typeface="Outfit"/>
              </a:rPr>
              <a:t>PRIVATE NEGOTIATION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9E8CE3-4F9C-404E-A34D-875A5CA0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6666"/>
                </a:solidFill>
                <a:latin typeface="Outfit"/>
                <a:ea typeface="Outfit"/>
                <a:cs typeface="Outfit"/>
              </a:defRPr>
            </a:pPr>
            <a:r>
              <a:rPr sz="825" b="0">
                <a:solidFill>
                  <a:srgbClr val="666666"/>
                </a:solidFill>
                <a:latin typeface="Outfit"/>
                <a:ea typeface="Outfit"/>
                <a:cs typeface="Outfit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0E847-8C0E-410D-AFD7-E760777E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1940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343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C5C04B-0043-4782-8AFB-0AA8F040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0955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97B4C-0B81-4D17-8870-8ED5C191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171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D65C5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D65C5C"/>
                </a:solidFill>
                <a:latin typeface="Pretendard"/>
                <a:ea typeface="Pretendard"/>
                <a:cs typeface="Pretendard"/>
              </a:rPr>
              <a:t>실패 후보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A160D8-7F0C-4C08-BF55-FDA204F7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1940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343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E00E7-9FA5-491F-A9C6-6F4F76D4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20955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AC5FB-967A-424E-917C-5293361A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19350"/>
            <a:ext cx="171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외부 전송 없음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2A40C1-9B76-457D-8DF3-A5E52B87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1940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34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E8AF06-69A0-4A47-ACB1-09E6D20B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20955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F6A9E1-2AAB-4DF6-81CC-E080BE20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171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D0B36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D0B36C"/>
                </a:solidFill>
                <a:latin typeface="Pretendard"/>
                <a:ea typeface="Pretendard"/>
                <a:cs typeface="Pretendard"/>
              </a:rPr>
              <a:t>다음 prompt에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D0B36C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D0B36C"/>
                </a:solidFill>
                <a:latin typeface="Pretendard"/>
                <a:ea typeface="Pretendard"/>
                <a:cs typeface="Pretendard"/>
              </a:rPr>
              <a:t>판정 없음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41AE08-8B48-4B66-8FAE-4A1546A0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20955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856D57-9F84-4757-8D63-B0BD792D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19350"/>
            <a:ext cx="171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9A9AFF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9A9AFF"/>
                </a:solidFill>
                <a:latin typeface="Pretendard"/>
                <a:ea typeface="Pretendard"/>
                <a:cs typeface="Pretendard"/>
              </a:rPr>
              <a:t>새 stateless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9A9AFF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9A9AFF"/>
                </a:solidFill>
                <a:latin typeface="Pretendard"/>
                <a:ea typeface="Pretendard"/>
                <a:cs typeface="Pretendard"/>
              </a:rPr>
              <a:t>요청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D479AB-CCF7-4D1F-9107-76F7B850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81525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181F45-E5BE-4C18-A9AC-A7C1F2DF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8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D0B36C"/>
                </a:solidFill>
                <a:latin typeface="Outfit"/>
                <a:ea typeface="Outfit"/>
                <a:cs typeface="Outfit"/>
              </a:defRPr>
            </a:pPr>
            <a:r>
              <a:rPr sz="1500" b="1">
                <a:solidFill>
                  <a:srgbClr val="D0B36C"/>
                </a:solidFill>
                <a:latin typeface="Outfit"/>
                <a:ea typeface="Outfit"/>
                <a:cs typeface="Outfit"/>
              </a:rPr>
              <a:t>store: false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DF5088-C069-43A4-8AA8-3F8EFB6C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581525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3841D7-3BA6-41DE-AE39-F55B32EB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2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8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9A9AFF"/>
                </a:solidFill>
                <a:latin typeface="Outfit"/>
                <a:ea typeface="Outfit"/>
                <a:cs typeface="Outfit"/>
              </a:defRPr>
            </a:pPr>
            <a:r>
              <a:rPr sz="1500" b="1">
                <a:solidFill>
                  <a:srgbClr val="9A9AFF"/>
                </a:solidFill>
                <a:latin typeface="Outfit"/>
                <a:ea typeface="Outfit"/>
                <a:cs typeface="Outfit"/>
              </a:rPr>
              <a:t>strict JSON schema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A0D0EE-3FAD-45A7-A23D-A058B4C7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8152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5A2B09-9BFF-4F41-B61C-CBD06D32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24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8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FFFFFF"/>
                </a:solidFill>
                <a:latin typeface="Outfit"/>
                <a:ea typeface="Outfit"/>
                <a:cs typeface="Outfit"/>
              </a:defRPr>
            </a:pPr>
            <a:r>
              <a:rPr sz="1500" b="1">
                <a:solidFill>
                  <a:srgbClr val="FFFFFF"/>
                </a:solidFill>
                <a:latin typeface="Outfit"/>
                <a:ea typeface="Outfit"/>
                <a:cs typeface="Outfit"/>
              </a:rPr>
              <a:t>no response chain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65CFC4-29F7-4F64-870A-53290540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581525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AE454F-08F4-40BB-BB5F-7C1808CE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324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8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9C9C9C"/>
                </a:solidFill>
                <a:latin typeface="Outfit"/>
                <a:ea typeface="Outfit"/>
                <a:cs typeface="Outfit"/>
              </a:defRPr>
            </a:pPr>
            <a:r>
              <a:rPr sz="1500" b="1">
                <a:solidFill>
                  <a:srgbClr val="9C9C9C"/>
                </a:solidFill>
                <a:latin typeface="Outfit"/>
                <a:ea typeface="Outfit"/>
                <a:cs typeface="Outfit"/>
              </a:rPr>
              <a:t>≤ 10 rounds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3CA7B4-C483-4F68-8071-113E18DD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149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9C9C9C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9C9C9C"/>
                </a:solidFill>
                <a:latin typeface="Pretendard"/>
                <a:ea typeface="Pretendard"/>
                <a:cs typeface="Pretendard"/>
              </a:rPr>
              <a:t>정확한 한도 필드는 보내지 않지만, 공개된 제안 흐름까지 숨기는 구조는 아니다.</a:t>
            </a:r>
          </a:p>
        </p:txBody>
      </p:sp>
    </p:spTree>
    <p:extLst>
      <p:ext uri="{BB962C8B-B14F-4D97-AF65-F5344CB8AC3E}">
        <p14:creationId xmlns:p14="http://schemas.microsoft.com/office/powerpoint/2010/main" val="18223678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07EF3A-50F1-49C1-B20C-E5DB522A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0000FE"/>
                </a:solidFill>
                <a:latin typeface="Outfit"/>
                <a:ea typeface="Outfit"/>
                <a:cs typeface="Outfit"/>
              </a:defRPr>
            </a:pPr>
            <a:r>
              <a:rPr sz="975" b="1">
                <a:solidFill>
                  <a:srgbClr val="0000FE"/>
                </a:solidFill>
                <a:latin typeface="Outfit"/>
                <a:ea typeface="Outfit"/>
                <a:cs typeface="Outfit"/>
              </a:rPr>
              <a:t>ENCRYPTED ROOM RELAY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9FEDD1-7E06-4291-A3F0-7869BD95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Relay는 연결하지만 협상 내용을 읽지 못한다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0A54A-98E5-4BFC-BD00-0F156940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99921-5880-4556-931D-81769D93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1">
                <a:solidFill>
                  <a:srgbClr val="666666"/>
                </a:solidFill>
                <a:latin typeface="Outfit"/>
                <a:ea typeface="Outfit"/>
                <a:cs typeface="Outfit"/>
              </a:defRPr>
            </a:pPr>
            <a:r>
              <a:rPr sz="825" b="1">
                <a:solidFill>
                  <a:srgbClr val="666666"/>
                </a:solidFill>
                <a:latin typeface="Outfit"/>
                <a:ea typeface="Outfit"/>
                <a:cs typeface="Outfit"/>
              </a:rPr>
              <a:t>PRIVATE NEGOTIATION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22592-DA72-4721-A38A-AC3FD477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6666"/>
                </a:solidFill>
                <a:latin typeface="Outfit"/>
                <a:ea typeface="Outfit"/>
                <a:cs typeface="Outfit"/>
              </a:defRPr>
            </a:pPr>
            <a:r>
              <a:rPr sz="825" b="0">
                <a:solidFill>
                  <a:srgbClr val="666666"/>
                </a:solidFill>
                <a:latin typeface="Outfit"/>
                <a:ea typeface="Outfit"/>
                <a:cs typeface="Outfit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48238A-6DBB-4B75-B1E9-5A04F0E2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051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343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96203B-8F1C-4116-BD75-0D18432F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051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343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80DD5-B555-4578-B78A-5FBED6D5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905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9050">
            <a:solidFill>
              <a:srgbClr val="A9C2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6A5D54-9322-4C83-9EF0-4A1B334C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25" b="1">
                <a:solidFill>
                  <a:srgbClr val="A9C2E6"/>
                </a:solidFill>
                <a:latin typeface="Outfit"/>
                <a:ea typeface="Outfit"/>
                <a:cs typeface="Outfit"/>
              </a:defRPr>
            </a:pPr>
            <a:r>
              <a:rPr sz="2025" b="1">
                <a:solidFill>
                  <a:srgbClr val="A9C2E6"/>
                </a:solidFill>
                <a:latin typeface="Outfit"/>
                <a:ea typeface="Outfit"/>
                <a:cs typeface="Outfit"/>
              </a:rPr>
              <a:t>BUYER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568BF4-CE2B-43A8-96D6-029435A4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9C9C9C"/>
                </a:solidFill>
                <a:latin typeface="Outfit"/>
                <a:ea typeface="Outfit"/>
                <a:cs typeface="Outfit"/>
              </a:defRPr>
            </a:pPr>
            <a:r>
              <a:rPr sz="1125" b="0">
                <a:solidFill>
                  <a:srgbClr val="9C9C9C"/>
                </a:solidFill>
                <a:latin typeface="Outfit"/>
                <a:ea typeface="Outfit"/>
                <a:cs typeface="Outfit"/>
              </a:rPr>
              <a:t>encrypt / decrypt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8A4A66-C785-4A63-ABD2-36F451BC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62200"/>
            <a:ext cx="1905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9050">
            <a:solidFill>
              <a:srgbClr val="D6B87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58AD59-0D3A-4F83-85D6-3E22AC3B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7241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25" b="1">
                <a:solidFill>
                  <a:srgbClr val="D6B879"/>
                </a:solidFill>
                <a:latin typeface="Outfit"/>
                <a:ea typeface="Outfit"/>
                <a:cs typeface="Outfit"/>
              </a:defRPr>
            </a:pPr>
            <a:r>
              <a:rPr sz="2025" b="1">
                <a:solidFill>
                  <a:srgbClr val="D6B879"/>
                </a:solidFill>
                <a:latin typeface="Outfit"/>
                <a:ea typeface="Outfit"/>
                <a:cs typeface="Outfit"/>
              </a:rPr>
              <a:t>SELLER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D8E302-FD79-4526-8693-4ECF3FD0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57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9C9C9C"/>
                </a:solidFill>
                <a:latin typeface="Outfit"/>
                <a:ea typeface="Outfit"/>
                <a:cs typeface="Outfit"/>
              </a:defRPr>
            </a:pPr>
            <a:r>
              <a:rPr sz="1125" b="0">
                <a:solidFill>
                  <a:srgbClr val="9C9C9C"/>
                </a:solidFill>
                <a:latin typeface="Outfit"/>
                <a:ea typeface="Outfit"/>
                <a:cs typeface="Outfit"/>
              </a:rPr>
              <a:t>encrypt / decrypt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996838-F231-47CE-A723-F883D953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24050"/>
            <a:ext cx="4152900" cy="2362200"/>
          </a:xfrm>
          <a:prstGeom xmlns:a="http://schemas.openxmlformats.org/drawingml/2006/main" prst="roundRect">
            <a:avLst>
              <a:gd name="adj" fmla="val 4032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BBCBA6-7854-48A4-8A5D-AF08D81D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09800"/>
            <a:ext cx="331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04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75" b="1">
                <a:solidFill>
                  <a:srgbClr val="FFFFFF"/>
                </a:solidFill>
                <a:latin typeface="Outfit"/>
                <a:ea typeface="Outfit"/>
                <a:cs typeface="Outfit"/>
              </a:defRPr>
            </a:pPr>
            <a:r>
              <a:rPr sz="1875" b="1">
                <a:solidFill>
                  <a:srgbClr val="FFFFFF"/>
                </a:solidFill>
                <a:latin typeface="Outfit"/>
                <a:ea typeface="Outfit"/>
                <a:cs typeface="Outfit"/>
              </a:rPr>
              <a:t>ROOM RELAY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8BB396-0C03-4489-86C4-51AFA3AC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8130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0">
                <a:solidFill>
                  <a:srgbClr val="9A9AFF"/>
                </a:solidFill>
                <a:latin typeface="Outfit"/>
                <a:ea typeface="Outfit"/>
                <a:cs typeface="Outfit"/>
              </a:defRPr>
            </a:pPr>
            <a:r>
              <a:rPr sz="1575" b="0">
                <a:solidFill>
                  <a:srgbClr val="9A9AFF"/>
                </a:solidFill>
                <a:latin typeface="Outfit"/>
                <a:ea typeface="Outfit"/>
                <a:cs typeface="Outfit"/>
              </a:rPr>
              <a:t>nonce · ciphertext · authTag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0F1711-45A9-4D80-AA23-8CA524F2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33750"/>
            <a:ext cx="331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75" b="0">
                <a:solidFill>
                  <a:srgbClr val="D0B36C"/>
                </a:solidFill>
                <a:latin typeface="Outfit"/>
                <a:ea typeface="Outfit"/>
                <a:cs typeface="Outfit"/>
              </a:defRPr>
            </a:pPr>
            <a:r>
              <a:rPr sz="1275" b="0">
                <a:solidFill>
                  <a:srgbClr val="D0B36C"/>
                </a:solidFill>
                <a:latin typeface="Outfit"/>
                <a:ea typeface="Outfit"/>
                <a:cs typeface="Outfit"/>
              </a:rPr>
              <a:t>AAD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275" b="0">
                <a:solidFill>
                  <a:srgbClr val="D0B36C"/>
                </a:solidFill>
                <a:latin typeface="Outfit"/>
                <a:ea typeface="Outfit"/>
                <a:cs typeface="Outfit"/>
              </a:defRPr>
            </a:pPr>
            <a:r>
              <a:rPr sz="1275" b="0">
                <a:solidFill>
                  <a:srgbClr val="D0B36C"/>
                </a:solidFill>
                <a:latin typeface="Outfit"/>
                <a:ea typeface="Outfit"/>
                <a:cs typeface="Outfit"/>
              </a:rPr>
              <a:t>session · product · role · sequence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E8EEFC-9340-4AA2-875A-99A45CA5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781550"/>
            <a:ext cx="792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0">
                <a:solidFill>
                  <a:srgbClr val="FFFFFF"/>
                </a:solidFill>
                <a:latin typeface="Outfit"/>
                <a:ea typeface="Outfit"/>
                <a:cs typeface="Outfit"/>
              </a:defRPr>
            </a:pPr>
            <a:r>
              <a:rPr sz="1650" b="0">
                <a:solidFill>
                  <a:srgbClr val="FFFFFF"/>
                </a:solidFill>
                <a:latin typeface="Outfit"/>
                <a:ea typeface="Outfit"/>
                <a:cs typeface="Outfit"/>
              </a:rPr>
              <a:t>X25519</a:t>
            </a:r>
            <a:r>
              <a:rPr sz="1650" b="0">
                <a:solidFill>
                  <a:srgbClr val="FFFFFF"/>
                </a:solidFill>
                <a:latin typeface="Outfit"/>
                <a:ea typeface="Outfit"/>
                <a:cs typeface="Outfit"/>
              </a:rPr>
              <a:t>  →  </a:t>
            </a:r>
            <a:r>
              <a:rPr sz="1650" b="0">
                <a:solidFill>
                  <a:srgbClr val="FFFFFF"/>
                </a:solidFill>
                <a:latin typeface="Outfit"/>
                <a:ea typeface="Outfit"/>
                <a:cs typeface="Outfit"/>
              </a:rPr>
              <a:t>HKDF-SHA-256</a:t>
            </a:r>
            <a:r>
              <a:rPr sz="1650" b="0">
                <a:solidFill>
                  <a:srgbClr val="FFFFFF"/>
                </a:solidFill>
                <a:latin typeface="Outfit"/>
                <a:ea typeface="Outfit"/>
                <a:cs typeface="Outfit"/>
              </a:rPr>
              <a:t>  →  </a:t>
            </a:r>
            <a:r>
              <a:rPr sz="1650" b="0">
                <a:solidFill>
                  <a:srgbClr val="FFFFFF"/>
                </a:solidFill>
                <a:latin typeface="Outfit"/>
                <a:ea typeface="Outfit"/>
                <a:cs typeface="Outfit"/>
              </a:rPr>
              <a:t>AES-256-GCM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2E623C-14D2-4A87-98C2-9AA1B596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102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0">
                <a:solidFill>
                  <a:srgbClr val="9C9C9C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9C9C9C"/>
                </a:solidFill>
                <a:latin typeface="Pretendard"/>
                <a:ea typeface="Pretendard"/>
                <a:cs typeface="Pretendard"/>
              </a:rPr>
              <a:t>Relay는 방 매칭에 필요한 메타데이터는 보지만 payload 평문은 갖지 않는다.</a:t>
            </a:r>
          </a:p>
        </p:txBody>
      </p:sp>
    </p:spTree>
    <p:extLst>
      <p:ext uri="{BB962C8B-B14F-4D97-AF65-F5344CB8AC3E}">
        <p14:creationId xmlns:p14="http://schemas.microsoft.com/office/powerpoint/2010/main" val="8128228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F7ABA4-7C5A-443C-97D3-B94272D4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0000FE"/>
                </a:solidFill>
                <a:latin typeface="Outfit"/>
                <a:ea typeface="Outfit"/>
                <a:cs typeface="Outfit"/>
              </a:defRPr>
            </a:pPr>
            <a:r>
              <a:rPr sz="975" b="1">
                <a:solidFill>
                  <a:srgbClr val="0000FE"/>
                </a:solidFill>
                <a:latin typeface="Outfit"/>
                <a:ea typeface="Outfit"/>
                <a:cs typeface="Outfit"/>
              </a:rPr>
              <a:t>COMPACT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78A3F-C702-4126-BC31-61110D23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Compact는 공개 상태와 private witness를 구분한다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E06EA-2C29-4C44-B9FA-770DBEFF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164B1-859A-4537-8A46-AB1607EE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1">
                <a:solidFill>
                  <a:srgbClr val="666666"/>
                </a:solidFill>
                <a:latin typeface="Outfit"/>
                <a:ea typeface="Outfit"/>
                <a:cs typeface="Outfit"/>
              </a:defRPr>
            </a:pPr>
            <a:r>
              <a:rPr sz="825" b="1">
                <a:solidFill>
                  <a:srgbClr val="666666"/>
                </a:solidFill>
                <a:latin typeface="Outfit"/>
                <a:ea typeface="Outfit"/>
                <a:cs typeface="Outfit"/>
              </a:rPr>
              <a:t>PRIVATE NEGOTIATION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86B05-8BDD-475F-AA76-BD7B3E2F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6666"/>
                </a:solidFill>
                <a:latin typeface="Outfit"/>
                <a:ea typeface="Outfit"/>
                <a:cs typeface="Outfit"/>
              </a:defRPr>
            </a:pPr>
            <a:r>
              <a:rPr sz="825" b="0">
                <a:solidFill>
                  <a:srgbClr val="666666"/>
                </a:solidFill>
                <a:latin typeface="Outfit"/>
                <a:ea typeface="Outfit"/>
                <a:cs typeface="Outfit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104B6-7FDE-4CBD-8F6A-AD04DB3F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9A9AFF"/>
                </a:solidFill>
                <a:latin typeface="Outfit"/>
                <a:ea typeface="Outfit"/>
                <a:cs typeface="Outfit"/>
              </a:defRPr>
            </a:pPr>
            <a:r>
              <a:rPr sz="1500" b="1">
                <a:solidFill>
                  <a:srgbClr val="9A9AFF"/>
                </a:solidFill>
                <a:latin typeface="Outfit"/>
                <a:ea typeface="Outfit"/>
                <a:cs typeface="Outfit"/>
              </a:rPr>
              <a:t>PUBLIC LEDGER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83AA3-107B-4B4D-9040-23ED6E5E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526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D0B36C"/>
                </a:solidFill>
                <a:latin typeface="Outfit"/>
                <a:ea typeface="Outfit"/>
                <a:cs typeface="Outfit"/>
              </a:defRPr>
            </a:pPr>
            <a:r>
              <a:rPr sz="1500" b="1">
                <a:solidFill>
                  <a:srgbClr val="D0B36C"/>
                </a:solidFill>
                <a:latin typeface="Outfit"/>
                <a:ea typeface="Outfit"/>
                <a:cs typeface="Outfit"/>
              </a:rPr>
              <a:t>PRIVATE WITNESS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A81FF-5D5E-4309-B165-916A9B98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68630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291C4-4135-443E-8559-B60D450A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66950"/>
            <a:ext cx="468630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58A6D2-4023-476E-AFDC-30378FB6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40767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8000"/>
              </a:lnSpc>
              <a:buNone/>
              <a:defRPr sz="1950" b="0">
                <a:solidFill>
                  <a:srgbClr val="FFFFFF"/>
                </a:solidFill>
                <a:latin typeface="SFMono-Regular"/>
                <a:ea typeface="SFMono-Regular"/>
                <a:cs typeface="SFMono-Regular"/>
              </a:defRPr>
            </a:pPr>
            <a:r>
              <a:rPr sz="1950" b="0">
                <a:solidFill>
                  <a:srgbClr val="FFFFFF"/>
                </a:solidFill>
                <a:latin typeface="SFMono-Regular"/>
                <a:ea typeface="SFMono-Regular"/>
                <a:cs typeface="SFMono-Regular"/>
              </a:rPr>
              <a:t>buyerCommitment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950" b="0">
                <a:solidFill>
                  <a:srgbClr val="FFFFFF"/>
                </a:solidFill>
                <a:latin typeface="SFMono-Regular"/>
                <a:ea typeface="SFMono-Regular"/>
                <a:cs typeface="SFMono-Regular"/>
              </a:defRPr>
            </a:pPr>
            <a:r>
              <a:rPr sz="1950" b="0">
                <a:solidFill>
                  <a:srgbClr val="FFFFFF"/>
                </a:solidFill>
                <a:latin typeface="SFMono-Regular"/>
                <a:ea typeface="SFMono-Regular"/>
                <a:cs typeface="SFMono-Regular"/>
              </a:rPr>
              <a:t>sellerCommitment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950" b="0">
                <a:solidFill>
                  <a:srgbClr val="FFFFFF"/>
                </a:solidFill>
                <a:latin typeface="SFMono-Regular"/>
                <a:ea typeface="SFMono-Regular"/>
                <a:cs typeface="SFMono-Regular"/>
              </a:defRPr>
            </a:pPr>
            <a:r>
              <a:rPr sz="1950" b="0">
                <a:solidFill>
                  <a:srgbClr val="FFFFFF"/>
                </a:solidFill>
                <a:latin typeface="SFMono-Regular"/>
                <a:ea typeface="SFMono-Regular"/>
                <a:cs typeface="SFMono-Regular"/>
              </a:rPr>
              <a:t>priceCommitment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950" b="0">
                <a:solidFill>
                  <a:srgbClr val="FFFFFF"/>
                </a:solidFill>
                <a:latin typeface="SFMono-Regular"/>
                <a:ea typeface="SFMono-Regular"/>
                <a:cs typeface="SFMono-Regular"/>
              </a:defRPr>
            </a:pPr>
            <a:r>
              <a:rPr sz="1950" b="0">
                <a:solidFill>
                  <a:srgbClr val="FFFFFF"/>
                </a:solidFill>
                <a:latin typeface="SFMono-Regular"/>
                <a:ea typeface="SFMono-Regular"/>
                <a:cs typeface="SFMono-Regular"/>
              </a:rPr>
              <a:t>finalPrice · 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92414A-DF1C-41EB-9F53-7C6BAAE6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86050"/>
            <a:ext cx="40767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8000"/>
              </a:lnSpc>
              <a:buNone/>
              <a:defRPr sz="1950" b="0">
                <a:solidFill>
                  <a:srgbClr val="FFFFFF"/>
                </a:solidFill>
                <a:latin typeface="SFMono-Regular"/>
                <a:ea typeface="SFMono-Regular"/>
                <a:cs typeface="SFMono-Regular"/>
              </a:defRPr>
            </a:pPr>
            <a:r>
              <a:rPr sz="1950" b="0">
                <a:solidFill>
                  <a:srgbClr val="FFFFFF"/>
                </a:solidFill>
                <a:latin typeface="SFMono-Regular"/>
                <a:ea typeface="SFMono-Regular"/>
                <a:cs typeface="SFMono-Regular"/>
              </a:rPr>
              <a:t>buyerMaxPrice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950" b="0">
                <a:solidFill>
                  <a:srgbClr val="FFFFFF"/>
                </a:solidFill>
                <a:latin typeface="SFMono-Regular"/>
                <a:ea typeface="SFMono-Regular"/>
                <a:cs typeface="SFMono-Regular"/>
              </a:defRPr>
            </a:pPr>
            <a:r>
              <a:rPr sz="1950" b="0">
                <a:solidFill>
                  <a:srgbClr val="FFFFFF"/>
                </a:solidFill>
                <a:latin typeface="SFMono-Regular"/>
                <a:ea typeface="SFMono-Regular"/>
                <a:cs typeface="SFMono-Regular"/>
              </a:rPr>
              <a:t>sellerMinPrice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950" b="0">
                <a:solidFill>
                  <a:srgbClr val="FFFFFF"/>
                </a:solidFill>
                <a:latin typeface="SFMono-Regular"/>
                <a:ea typeface="SFMono-Regular"/>
                <a:cs typeface="SFMono-Regular"/>
              </a:defRPr>
            </a:pPr>
            <a:r>
              <a:rPr sz="1950" b="0">
                <a:solidFill>
                  <a:srgbClr val="FFFFFF"/>
                </a:solidFill>
                <a:latin typeface="SFMono-Regular"/>
                <a:ea typeface="SFMono-Regular"/>
                <a:cs typeface="SFMono-Regular"/>
              </a:rPr>
              <a:t>limitRandomness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950" b="0">
                <a:solidFill>
                  <a:srgbClr val="FFFFFF"/>
                </a:solidFill>
                <a:latin typeface="SFMono-Regular"/>
                <a:ea typeface="SFMono-Regular"/>
                <a:cs typeface="SFMono-Regular"/>
              </a:defRPr>
            </a:pPr>
            <a:r>
              <a:rPr sz="1950" b="0">
                <a:solidFill>
                  <a:srgbClr val="FFFFFF"/>
                </a:solidFill>
                <a:latin typeface="SFMono-Regular"/>
                <a:ea typeface="SFMono-Regular"/>
                <a:cs typeface="SFMono-Regular"/>
              </a:rPr>
              <a:t>agreedPrice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8A8C42-F765-4C04-B8C4-74826DC5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410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9A9A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9A9AFF"/>
                </a:solidFill>
                <a:latin typeface="Pretendard"/>
                <a:ea typeface="Pretendard"/>
                <a:cs typeface="Pretendard"/>
              </a:rPr>
              <a:t>commitment만 공개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0D0FB5-FA3F-4F87-84F6-6183AFC3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410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D0B36C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D0B36C"/>
                </a:solidFill>
                <a:latin typeface="Pretendard"/>
                <a:ea typeface="Pretendard"/>
                <a:cs typeface="Pretendard"/>
              </a:rPr>
              <a:t>한도 원문은 로컬</a:t>
            </a:r>
          </a:p>
        </p:txBody>
      </p:sp>
    </p:spTree>
    <p:extLst>
      <p:ext uri="{BB962C8B-B14F-4D97-AF65-F5344CB8AC3E}">
        <p14:creationId xmlns:p14="http://schemas.microsoft.com/office/powerpoint/2010/main" val="5877117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CACC13-88D6-4626-91D2-5118F748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0000FE"/>
                </a:solidFill>
                <a:latin typeface="Outfit"/>
                <a:ea typeface="Outfit"/>
                <a:cs typeface="Outfit"/>
              </a:defRPr>
            </a:pPr>
            <a:r>
              <a:rPr sz="975" b="1">
                <a:solidFill>
                  <a:srgbClr val="0000FE"/>
                </a:solidFill>
                <a:latin typeface="Outfit"/>
                <a:ea typeface="Outfit"/>
                <a:cs typeface="Outfit"/>
              </a:rPr>
              <a:t>ZERO-KNOWLEDGE POLICY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C486A-7A17-4EA9-BDB0-4752AB5C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두 회로가 각자의 조건을 나눠서 증명한다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1F2B8D-0119-4E88-8034-0FF8847B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8F3A8-2E85-45D2-91F1-3CB903D3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1">
                <a:solidFill>
                  <a:srgbClr val="666666"/>
                </a:solidFill>
                <a:latin typeface="Outfit"/>
                <a:ea typeface="Outfit"/>
                <a:cs typeface="Outfit"/>
              </a:defRPr>
            </a:pPr>
            <a:r>
              <a:rPr sz="825" b="1">
                <a:solidFill>
                  <a:srgbClr val="666666"/>
                </a:solidFill>
                <a:latin typeface="Outfit"/>
                <a:ea typeface="Outfit"/>
                <a:cs typeface="Outfit"/>
              </a:rPr>
              <a:t>PRIVATE NEGOTIATION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3FB65-F65C-46EE-AC9C-CA61F361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6666"/>
                </a:solidFill>
                <a:latin typeface="Outfit"/>
                <a:ea typeface="Outfit"/>
                <a:cs typeface="Outfit"/>
              </a:defRPr>
            </a:pPr>
            <a:r>
              <a:rPr sz="825" b="0">
                <a:solidFill>
                  <a:srgbClr val="666666"/>
                </a:solidFill>
                <a:latin typeface="Outfit"/>
                <a:ea typeface="Outfit"/>
                <a:cs typeface="Outfit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414FB5-0FD6-40BB-9852-3226C15D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A9C2E6"/>
                </a:solidFill>
                <a:latin typeface="Outfit"/>
                <a:ea typeface="Outfit"/>
                <a:cs typeface="Outfit"/>
              </a:defRPr>
            </a:pPr>
            <a:r>
              <a:rPr sz="1725" b="1">
                <a:solidFill>
                  <a:srgbClr val="A9C2E6"/>
                </a:solidFill>
                <a:latin typeface="Outfit"/>
                <a:ea typeface="Outfit"/>
                <a:cs typeface="Outfit"/>
              </a:rPr>
              <a:t>BUYER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B993E2-713E-40B8-A9E8-7518190C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526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9A9AFF"/>
                </a:solidFill>
                <a:latin typeface="Outfit"/>
                <a:ea typeface="Outfit"/>
                <a:cs typeface="Outfit"/>
              </a:defRPr>
            </a:pPr>
            <a:r>
              <a:rPr sz="1875" b="1">
                <a:solidFill>
                  <a:srgbClr val="9A9AFF"/>
                </a:solidFill>
                <a:latin typeface="Outfit"/>
                <a:ea typeface="Outfit"/>
                <a:cs typeface="Outfit"/>
              </a:rPr>
              <a:t>authorizeHiddenPrice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8A081-3231-40F2-A39D-ED32DEC5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145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FFFFFF"/>
                </a:solidFill>
                <a:latin typeface="SFMono-Regular"/>
                <a:ea typeface="SFMono-Regular"/>
                <a:cs typeface="SFMono-Regular"/>
              </a:defRPr>
            </a:pPr>
            <a:r>
              <a:rPr sz="2400" b="1">
                <a:solidFill>
                  <a:srgbClr val="FFFFFF"/>
                </a:solidFill>
                <a:latin typeface="SFMono-Regular"/>
                <a:ea typeface="SFMono-Regular"/>
                <a:cs typeface="SFMono-Regular"/>
              </a:rPr>
              <a:t>price ≤ maxPrice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518E0-8D6C-486B-94BA-559F0553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812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650" b="1">
                <a:solidFill>
                  <a:srgbClr val="D0B36C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D0B36C"/>
                </a:solidFill>
                <a:latin typeface="Pretendard"/>
                <a:ea typeface="Pretendard"/>
                <a:cs typeface="Pretendard"/>
              </a:rPr>
              <a:t>가격 커밋만 공개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53C5B-7584-4852-AAE3-DF724509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43225"/>
            <a:ext cx="1072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FFEB02-C2DF-448A-B64C-8CA710F5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D6B879"/>
                </a:solidFill>
                <a:latin typeface="Outfit"/>
                <a:ea typeface="Outfit"/>
                <a:cs typeface="Outfit"/>
              </a:defRPr>
            </a:pPr>
            <a:r>
              <a:rPr sz="1725" b="1">
                <a:solidFill>
                  <a:srgbClr val="D6B879"/>
                </a:solidFill>
                <a:latin typeface="Outfit"/>
                <a:ea typeface="Outfit"/>
                <a:cs typeface="Outfit"/>
              </a:rPr>
              <a:t>SELLER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FEB58D-5C09-4E35-95E1-606E466C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624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9A9AFF"/>
                </a:solidFill>
                <a:latin typeface="Outfit"/>
                <a:ea typeface="Outfit"/>
                <a:cs typeface="Outfit"/>
              </a:defRPr>
            </a:pPr>
            <a:r>
              <a:rPr sz="1875" b="1">
                <a:solidFill>
                  <a:srgbClr val="9A9AFF"/>
                </a:solidFill>
                <a:latin typeface="Outfit"/>
                <a:ea typeface="Outfit"/>
                <a:cs typeface="Outfit"/>
              </a:rPr>
              <a:t>settle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36B39F-F0C5-4774-B03C-3D4C2455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243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FFFFFF"/>
                </a:solidFill>
                <a:latin typeface="SFMono-Regular"/>
                <a:ea typeface="SFMono-Regular"/>
                <a:cs typeface="SFMono-Regular"/>
              </a:defRPr>
            </a:pPr>
            <a:r>
              <a:rPr sz="2400" b="1">
                <a:solidFill>
                  <a:srgbClr val="FFFFFF"/>
                </a:solidFill>
                <a:latin typeface="SFMono-Regular"/>
                <a:ea typeface="SFMono-Regular"/>
                <a:cs typeface="SFMono-Regular"/>
              </a:rPr>
              <a:t>minPrice ≤ price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79D12E-F429-4738-A806-00DEF363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909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650" b="1">
                <a:solidFill>
                  <a:srgbClr val="9FB8A3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9FB8A3"/>
                </a:solidFill>
                <a:latin typeface="Pretendard"/>
                <a:ea typeface="Pretendard"/>
                <a:cs typeface="Pretendard"/>
              </a:rPr>
              <a:t>finalPrice 공개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A48E52-0AE4-4BB8-8A78-35D6496D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52975"/>
            <a:ext cx="1072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A1FBC0-2433-43F5-8183-EC703CFD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8165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0">
                <a:solidFill>
                  <a:srgbClr val="FFFFFF"/>
                </a:solidFill>
                <a:latin typeface="SFMono-Regular"/>
                <a:ea typeface="SFMono-Regular"/>
                <a:cs typeface="SFMono-Regular"/>
              </a:defRPr>
            </a:pPr>
            <a:r>
              <a:rPr sz="1575" b="0">
                <a:solidFill>
                  <a:srgbClr val="FFFFFF"/>
                </a:solidFill>
                <a:latin typeface="SFMono-Regular"/>
                <a:ea typeface="SFMono-Regular"/>
                <a:cs typeface="SFMono-Regular"/>
              </a:rPr>
              <a:t>SETTLED</a:t>
            </a:r>
            <a:r>
              <a:rPr sz="1575" b="0">
                <a:solidFill>
                  <a:srgbClr val="FFFFFF"/>
                </a:solidFill>
                <a:latin typeface="SFMono-Regular"/>
                <a:ea typeface="SFMono-Regular"/>
                <a:cs typeface="SFMono-Regular"/>
              </a:rPr>
              <a:t>에서만  </a:t>
            </a:r>
            <a:r>
              <a:rPr sz="1575" b="0">
                <a:solidFill>
                  <a:srgbClr val="FFFFFF"/>
                </a:solidFill>
                <a:latin typeface="SFMono-Regular"/>
                <a:ea typeface="SFMono-Regular"/>
                <a:cs typeface="SFMono-Regular"/>
              </a:rPr>
              <a:t>finalPrice = disclose(price)</a:t>
            </a:r>
          </a:p>
        </p:txBody>
      </p:sp>
    </p:spTree>
    <p:extLst>
      <p:ext uri="{BB962C8B-B14F-4D97-AF65-F5344CB8AC3E}">
        <p14:creationId xmlns:p14="http://schemas.microsoft.com/office/powerpoint/2010/main" val="360588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A8B241-7EA3-4685-B53B-D776E928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0000FE"/>
                </a:solidFill>
                <a:latin typeface="Outfit"/>
                <a:ea typeface="Outfit"/>
                <a:cs typeface="Outfit"/>
              </a:defRPr>
            </a:pPr>
            <a:r>
              <a:rPr sz="975" b="1">
                <a:solidFill>
                  <a:srgbClr val="0000FE"/>
                </a:solidFill>
                <a:latin typeface="Outfit"/>
                <a:ea typeface="Outfit"/>
                <a:cs typeface="Outfit"/>
              </a:rPr>
              <a:t>OBSERVER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0330C6-AE79-47EB-8205-4F8611CA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공개 상태는 세 단계만 말한다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866F79-3099-4E84-9BE9-4C9188A1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2278F-6118-4D82-B2A7-8C58E7C6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1">
                <a:solidFill>
                  <a:srgbClr val="666666"/>
                </a:solidFill>
                <a:latin typeface="Outfit"/>
                <a:ea typeface="Outfit"/>
                <a:cs typeface="Outfit"/>
              </a:defRPr>
            </a:pPr>
            <a:r>
              <a:rPr sz="825" b="1">
                <a:solidFill>
                  <a:srgbClr val="666666"/>
                </a:solidFill>
                <a:latin typeface="Outfit"/>
                <a:ea typeface="Outfit"/>
                <a:cs typeface="Outfit"/>
              </a:rPr>
              <a:t>PRIVATE NEGOTIATION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E6852-68FF-4840-9221-5D16A17F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6666"/>
                </a:solidFill>
                <a:latin typeface="Outfit"/>
                <a:ea typeface="Outfit"/>
                <a:cs typeface="Outfit"/>
              </a:defRPr>
            </a:pPr>
            <a:r>
              <a:rPr sz="825" b="0">
                <a:solidFill>
                  <a:srgbClr val="666666"/>
                </a:solidFill>
                <a:latin typeface="Outfit"/>
                <a:ea typeface="Outfit"/>
                <a:cs typeface="Outfit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70F5B4-D98D-4778-9C38-07D2400A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81350"/>
            <a:ext cx="838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4343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4B0AEB-5A58-40B1-B67D-D2D6EFF0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067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9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7A5478-76A7-40F1-B411-967BD72F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9A9AFF"/>
                </a:solidFill>
                <a:latin typeface="Outfit"/>
                <a:ea typeface="Outfit"/>
                <a:cs typeface="Outfit"/>
              </a:defRPr>
            </a:pPr>
            <a:r>
              <a:rPr sz="2100" b="1">
                <a:solidFill>
                  <a:srgbClr val="9A9AFF"/>
                </a:solidFill>
                <a:latin typeface="Outfit"/>
                <a:ea typeface="Outfit"/>
                <a:cs typeface="Outfit"/>
              </a:rPr>
              <a:t>OPEN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CA529B-4737-4958-A9DF-ABE4907A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거래 참여 완료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AAF89C-EFDC-494F-8657-44D10A03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67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9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F964E8-10A5-4E36-A56A-AC84D70F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383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9A9AFF"/>
                </a:solidFill>
                <a:latin typeface="Outfit"/>
                <a:ea typeface="Outfit"/>
                <a:cs typeface="Outfit"/>
              </a:defRPr>
            </a:pPr>
            <a:r>
              <a:rPr sz="1800" b="1">
                <a:solidFill>
                  <a:srgbClr val="9A9AFF"/>
                </a:solidFill>
                <a:latin typeface="Outfit"/>
                <a:ea typeface="Outfit"/>
                <a:cs typeface="Outfit"/>
              </a:rPr>
              <a:t>AUTHORIZED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D39A3-372F-4E75-B2CB-790555A2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004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D0B36C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D0B36C"/>
                </a:solidFill>
                <a:latin typeface="Pretendard"/>
                <a:ea typeface="Pretendard"/>
                <a:cs typeface="Pretendard"/>
              </a:rPr>
              <a:t>가격 조건 승인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D0B36C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D0B36C"/>
                </a:solidFill>
                <a:latin typeface="Pretendard"/>
                <a:ea typeface="Pretendard"/>
                <a:cs typeface="Pretendard"/>
              </a:rPr>
              <a:t>금액 비공개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74B127-2F67-45BA-A265-87045199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67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B8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E76730-252E-4897-8061-CE37EEC5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383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9FB8A3"/>
                </a:solidFill>
                <a:latin typeface="Outfit"/>
                <a:ea typeface="Outfit"/>
                <a:cs typeface="Outfit"/>
              </a:defRPr>
            </a:pPr>
            <a:r>
              <a:rPr sz="2100" b="1">
                <a:solidFill>
                  <a:srgbClr val="9FB8A3"/>
                </a:solidFill>
                <a:latin typeface="Outfit"/>
                <a:ea typeface="Outfit"/>
                <a:cs typeface="Outfit"/>
              </a:rPr>
              <a:t>SETTLED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9B9DCB-62C2-4C8D-AE14-6E0AF056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100,000 KRW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CE4B56-D351-46D8-A4EB-565AF5C7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0150"/>
            <a:ext cx="948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0">
                <a:solidFill>
                  <a:srgbClr val="9C9C9C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9C9C9C"/>
                </a:solidFill>
                <a:latin typeface="Pretendard"/>
                <a:ea typeface="Pretendard"/>
                <a:cs typeface="Pretendard"/>
              </a:rPr>
              <a:t>협상 대화 · 중간 제안 · 라운드 · 한도 · proof 내부 값은 Observer에 없다.</a:t>
            </a:r>
          </a:p>
        </p:txBody>
      </p:sp>
    </p:spTree>
    <p:extLst>
      <p:ext uri="{BB962C8B-B14F-4D97-AF65-F5344CB8AC3E}">
        <p14:creationId xmlns:p14="http://schemas.microsoft.com/office/powerpoint/2010/main" val="15516095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D5FB72-47F3-4110-BA63-7015BDB3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0000FE"/>
                </a:solidFill>
                <a:latin typeface="Outfit"/>
                <a:ea typeface="Outfit"/>
                <a:cs typeface="Outfit"/>
              </a:defRPr>
            </a:pPr>
            <a:r>
              <a:rPr sz="975" b="1">
                <a:solidFill>
                  <a:srgbClr val="0000FE"/>
                </a:solidFill>
                <a:latin typeface="Outfit"/>
                <a:ea typeface="Outfit"/>
                <a:cs typeface="Outfit"/>
              </a:rPr>
              <a:t>PRESENTATION UI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BF8EF5-1D44-407D-9166-413C1901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화면은 세 개의 신뢰 경계를 보여준다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38478C-E4CB-41D0-BB7D-EA9AB2A4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F6F1E-7F53-4F45-AF01-A9D7783C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1">
                <a:solidFill>
                  <a:srgbClr val="666666"/>
                </a:solidFill>
                <a:latin typeface="Outfit"/>
                <a:ea typeface="Outfit"/>
                <a:cs typeface="Outfit"/>
              </a:defRPr>
            </a:pPr>
            <a:r>
              <a:rPr sz="825" b="1">
                <a:solidFill>
                  <a:srgbClr val="666666"/>
                </a:solidFill>
                <a:latin typeface="Outfit"/>
                <a:ea typeface="Outfit"/>
                <a:cs typeface="Outfit"/>
              </a:rPr>
              <a:t>PRIVATE NEGOTIATION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1B2A5-2DA8-4737-8B1E-EEA8B993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6666"/>
                </a:solidFill>
                <a:latin typeface="Outfit"/>
                <a:ea typeface="Outfit"/>
                <a:cs typeface="Outfit"/>
              </a:defRPr>
            </a:pPr>
            <a:r>
              <a:rPr sz="825" b="0">
                <a:solidFill>
                  <a:srgbClr val="666666"/>
                </a:solidFill>
                <a:latin typeface="Outfit"/>
                <a:ea typeface="Outfit"/>
                <a:cs typeface="Outfit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8F557-0591-404E-89F6-38A062E3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30861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37B69E-F139-4589-A122-76329DE8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A9C2E6"/>
                </a:solidFill>
                <a:latin typeface="Outfit"/>
                <a:ea typeface="Outfit"/>
                <a:cs typeface="Outfit"/>
              </a:defRPr>
            </a:pPr>
            <a:r>
              <a:rPr sz="1350" b="1">
                <a:solidFill>
                  <a:srgbClr val="A9C2E6"/>
                </a:solidFill>
                <a:latin typeface="Outfit"/>
                <a:ea typeface="Outfit"/>
                <a:cs typeface="Outfit"/>
              </a:rPr>
              <a:t>BUYER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A30DF-61B2-4E2A-AC4E-94329A62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52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28A42A-5135-4431-A37F-A2FC29BF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262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0AE296-C52F-40DF-AA70-1EAD979E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262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자기 한도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자기 로컬 로그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F14AEC-3D86-47DE-B84C-6A97ACC3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47850"/>
            <a:ext cx="30861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4A48AD-7325-4C25-B87E-7DBC2152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D6B879"/>
                </a:solidFill>
                <a:latin typeface="Outfit"/>
                <a:ea typeface="Outfit"/>
                <a:cs typeface="Outfit"/>
              </a:defRPr>
            </a:pPr>
            <a:r>
              <a:rPr sz="1350" b="1">
                <a:solidFill>
                  <a:srgbClr val="D6B879"/>
                </a:solidFill>
                <a:latin typeface="Outfit"/>
                <a:ea typeface="Outfit"/>
                <a:cs typeface="Outfit"/>
              </a:rPr>
              <a:t>SELLER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5809DC-3461-49F3-9924-46356772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52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00FF8F-B1C4-46BA-B4D1-1E199703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33650"/>
            <a:ext cx="262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4E9AE0-1A19-48A0-98A6-2DED96E3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262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자기 한도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자기 로컬 로그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38EFC1-C872-49C3-B13F-F9A8797C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47850"/>
            <a:ext cx="30861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03D02D-C060-4E95-A204-5760881F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76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FFFFFF"/>
                </a:solidFill>
                <a:latin typeface="Outfit"/>
                <a:ea typeface="Outfit"/>
                <a:cs typeface="Outfit"/>
              </a:defRPr>
            </a:pPr>
            <a:r>
              <a:rPr sz="1350" b="1">
                <a:solidFill>
                  <a:srgbClr val="FFFFFF"/>
                </a:solidFill>
                <a:latin typeface="Outfit"/>
                <a:ea typeface="Outfit"/>
                <a:cs typeface="Outfit"/>
              </a:rPr>
              <a:t>OBSERVER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FA476A-F591-4F51-8B95-30FC4881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152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DD5706-CC3C-44F4-AB4A-F4E93FC2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33650"/>
            <a:ext cx="262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485537-16BB-4BB1-A52C-2FB5BCFC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57500"/>
            <a:ext cx="262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공개 상태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 가격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4C38D4-55E6-415F-B4DE-7C71F2ED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4825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9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비공개</a:t>
            </a:r>
            <a:r>
              <a:rPr sz="19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 ·  </a:t>
            </a:r>
            <a:r>
              <a:rPr sz="19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증명</a:t>
            </a:r>
            <a:r>
              <a:rPr sz="19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 ·  </a:t>
            </a:r>
            <a:r>
              <a:rPr sz="19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 공개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829E0E-BDF1-4148-A525-7742C182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19750"/>
            <a:ext cx="868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9C9C9C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9C9C9C"/>
                </a:solidFill>
                <a:latin typeface="Pretendard"/>
                <a:ea typeface="Pretendard"/>
                <a:cs typeface="Pretendard"/>
              </a:rPr>
              <a:t>기존 로그를 바꾸지 않고 새 행을 추가한다. 오래 걸리는 작업만 spinner로 표시한다.</a:t>
            </a:r>
          </a:p>
        </p:txBody>
      </p:sp>
    </p:spTree>
    <p:extLst>
      <p:ext uri="{BB962C8B-B14F-4D97-AF65-F5344CB8AC3E}">
        <p14:creationId xmlns:p14="http://schemas.microsoft.com/office/powerpoint/2010/main" val="398150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3F6DC-6775-45C9-957F-F02FFB82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라이브 데모는 다섯 장면으로 끝난다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B3D74-4DA7-4449-8AE0-389EEC06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9C9C9C"/>
                </a:solidFill>
                <a:latin typeface="Outfit"/>
                <a:ea typeface="Outfit"/>
                <a:cs typeface="Outfit"/>
              </a:defRPr>
            </a:pPr>
            <a:r>
              <a:rPr sz="1350" b="0">
                <a:solidFill>
                  <a:srgbClr val="9C9C9C"/>
                </a:solidFill>
                <a:latin typeface="Outfit"/>
                <a:ea typeface="Outfit"/>
                <a:cs typeface="Outfit"/>
              </a:rPr>
              <a:t>01 입장  ·  02 한도  ·  03 커밋  ·  04 비공개 협상·증명  ·  05 최종 공개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DD4EC7-A37F-49E2-B4AE-B40EE564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286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f6acf00150445d"/>
          <a:stretch xmlns:a="http://schemas.openxmlformats.org/drawingml/2006/main"/>
        </p:blipFill>
        <p:spPr>
          <a:xfrm xmlns:a="http://schemas.openxmlformats.org/drawingml/2006/main">
            <a:off x="3218202" y="1752600"/>
            <a:ext cx="5755596" cy="39433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BF0A7-01FF-43B6-B22D-8381A733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7F5D10-B584-445A-81AB-1E6587EC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1">
                <a:solidFill>
                  <a:srgbClr val="666666"/>
                </a:solidFill>
                <a:latin typeface="Outfit"/>
                <a:ea typeface="Outfit"/>
                <a:cs typeface="Outfit"/>
              </a:defRPr>
            </a:pPr>
            <a:r>
              <a:rPr sz="825" b="1">
                <a:solidFill>
                  <a:srgbClr val="666666"/>
                </a:solidFill>
                <a:latin typeface="Outfit"/>
                <a:ea typeface="Outfit"/>
                <a:cs typeface="Outfit"/>
              </a:rPr>
              <a:t>LIVE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D662B-A03F-4CF6-B541-F7DDAD08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6666"/>
                </a:solidFill>
                <a:latin typeface="Outfit"/>
                <a:ea typeface="Outfit"/>
                <a:cs typeface="Outfit"/>
              </a:defRPr>
            </a:pPr>
            <a:r>
              <a:rPr sz="825" b="0">
                <a:solidFill>
                  <a:srgbClr val="666666"/>
                </a:solidFill>
                <a:latin typeface="Outfit"/>
                <a:ea typeface="Outfit"/>
                <a:cs typeface="Outfi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678250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51DD5D-AC66-4BD3-9CBA-55717678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0000FE"/>
                </a:solidFill>
                <a:latin typeface="Outfit"/>
                <a:ea typeface="Outfit"/>
                <a:cs typeface="Outfit"/>
              </a:defRPr>
            </a:pPr>
            <a:r>
              <a:rPr sz="975" b="1">
                <a:solidFill>
                  <a:srgbClr val="0000FE"/>
                </a:solidFill>
                <a:latin typeface="Outfit"/>
                <a:ea typeface="Outfit"/>
                <a:cs typeface="Outfit"/>
              </a:rPr>
              <a:t>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56B24-7C26-4BA3-A0B9-E896194E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테스트는 동작과 비노출을 함께 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401DF-C131-4BF2-88B5-1127B70D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D12E1-C109-47C9-9F8D-746F65CA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1">
                <a:solidFill>
                  <a:srgbClr val="666666"/>
                </a:solidFill>
                <a:latin typeface="Outfit"/>
                <a:ea typeface="Outfit"/>
                <a:cs typeface="Outfit"/>
              </a:defRPr>
            </a:pPr>
            <a:r>
              <a:rPr sz="825" b="1">
                <a:solidFill>
                  <a:srgbClr val="666666"/>
                </a:solidFill>
                <a:latin typeface="Outfit"/>
                <a:ea typeface="Outfit"/>
                <a:cs typeface="Outfit"/>
              </a:rPr>
              <a:t>PRIVATE NEGOTIATION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E40EF-E7CE-499D-A87A-5FE99FC1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6666"/>
                </a:solidFill>
                <a:latin typeface="Outfit"/>
                <a:ea typeface="Outfit"/>
                <a:cs typeface="Outfit"/>
              </a:defRPr>
            </a:pPr>
            <a:r>
              <a:rPr sz="825" b="0">
                <a:solidFill>
                  <a:srgbClr val="666666"/>
                </a:solidFill>
                <a:latin typeface="Outfit"/>
                <a:ea typeface="Outfit"/>
                <a:cs typeface="Outfit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C79D7-C014-4BDC-B8D0-BD80463E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71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5550" b="1">
                <a:solidFill>
                  <a:srgbClr val="9FB8A3"/>
                </a:solidFill>
                <a:latin typeface="Outfit"/>
                <a:ea typeface="Outfit"/>
                <a:cs typeface="Outfit"/>
              </a:defRPr>
            </a:pPr>
            <a:r>
              <a:rPr sz="5550" b="1">
                <a:solidFill>
                  <a:srgbClr val="9FB8A3"/>
                </a:solidFill>
                <a:latin typeface="Outfit"/>
                <a:ea typeface="Outfit"/>
                <a:cs typeface="Outfit"/>
              </a:rPr>
              <a:t>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972602-E997-44F2-93BD-A81A4329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2383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9C9C9C"/>
                </a:solidFill>
                <a:latin typeface="Outfit"/>
                <a:ea typeface="Outfit"/>
                <a:cs typeface="Outfit"/>
              </a:defRPr>
            </a:pPr>
            <a:r>
              <a:rPr sz="1500" b="0">
                <a:solidFill>
                  <a:srgbClr val="9C9C9C"/>
                </a:solidFill>
                <a:latin typeface="Outfit"/>
                <a:ea typeface="Outfit"/>
                <a:cs typeface="Outfit"/>
              </a:rPr>
              <a:t>runtime tests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D2364-0AB6-40AE-BF5D-946AB2F6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ECAA3E-4DB9-423A-A36A-FFC53BB6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52600"/>
            <a:ext cx="171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5550" b="1">
                <a:solidFill>
                  <a:srgbClr val="9FB8A3"/>
                </a:solidFill>
                <a:latin typeface="Outfit"/>
                <a:ea typeface="Outfit"/>
                <a:cs typeface="Outfit"/>
              </a:defRPr>
            </a:pPr>
            <a:r>
              <a:rPr sz="5550" b="1">
                <a:solidFill>
                  <a:srgbClr val="9FB8A3"/>
                </a:solidFill>
                <a:latin typeface="Outfit"/>
                <a:ea typeface="Outfit"/>
                <a:cs typeface="Outfit"/>
              </a:rPr>
              <a:t>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C2ED3-2FD9-4716-9EA3-8C44F5C0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383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9C9C9C"/>
                </a:solidFill>
                <a:latin typeface="Outfit"/>
                <a:ea typeface="Outfit"/>
                <a:cs typeface="Outfit"/>
              </a:defRPr>
            </a:pPr>
            <a:r>
              <a:rPr sz="1500" b="0">
                <a:solidFill>
                  <a:srgbClr val="9C9C9C"/>
                </a:solidFill>
                <a:latin typeface="Outfit"/>
                <a:ea typeface="Outfit"/>
                <a:cs typeface="Outfit"/>
              </a:rPr>
              <a:t>web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0E9811-0587-4BA7-8FD4-44806C7A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956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E687F-E046-4D09-AB76-5C6B60B3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52600"/>
            <a:ext cx="171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5550" b="1">
                <a:solidFill>
                  <a:srgbClr val="9A9AFF"/>
                </a:solidFill>
                <a:latin typeface="Outfit"/>
                <a:ea typeface="Outfit"/>
                <a:cs typeface="Outfit"/>
              </a:defRPr>
            </a:pPr>
            <a:r>
              <a:rPr sz="5550" b="1">
                <a:solidFill>
                  <a:srgbClr val="9A9AFF"/>
                </a:solidFill>
                <a:latin typeface="Outfit"/>
                <a:ea typeface="Outfit"/>
                <a:cs typeface="Outfit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8F6E11-4A62-4C80-8B15-B69FDF14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383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9C9C9C"/>
                </a:solidFill>
                <a:latin typeface="Outfit"/>
                <a:ea typeface="Outfit"/>
                <a:cs typeface="Outfit"/>
              </a:defRPr>
            </a:pPr>
            <a:r>
              <a:rPr sz="1500" b="0">
                <a:solidFill>
                  <a:srgbClr val="9C9C9C"/>
                </a:solidFill>
                <a:latin typeface="Outfit"/>
                <a:ea typeface="Outfit"/>
                <a:cs typeface="Outfit"/>
              </a:rPr>
              <a:t>Compact circuits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5CD4E8-6B96-4D3A-BD35-4863C902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BD3217-B7B5-4FBD-ACF8-38540038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49AFEB-C6C1-430B-9885-EDD4FD76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7662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FFFFFF"/>
                </a:solidFill>
                <a:latin typeface="Outfit"/>
                <a:ea typeface="Outfit"/>
                <a:cs typeface="Outfit"/>
              </a:defRPr>
            </a:pPr>
            <a:r>
              <a:rPr sz="1500" b="0">
                <a:solidFill>
                  <a:srgbClr val="FFFFFF"/>
                </a:solidFill>
                <a:latin typeface="Outfit"/>
                <a:ea typeface="Outfit"/>
                <a:cs typeface="Outfit"/>
              </a:rPr>
              <a:t>process · credential isolation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355876-A1B2-4CC3-BF71-ADD60A10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00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0FB3E1-6A10-48B6-8B92-6E1575BA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7662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FFFFFF"/>
                </a:solidFill>
                <a:latin typeface="Outfit"/>
                <a:ea typeface="Outfit"/>
                <a:cs typeface="Outfit"/>
              </a:defRPr>
            </a:pPr>
            <a:r>
              <a:rPr sz="1500" b="0">
                <a:solidFill>
                  <a:srgbClr val="FFFFFF"/>
                </a:solidFill>
                <a:latin typeface="Outfit"/>
                <a:ea typeface="Outfit"/>
                <a:cs typeface="Outfit"/>
              </a:rPr>
              <a:t>request field audit · store:false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375277-B24B-4D54-97D2-344EFDDF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837319-176E-47D2-A5E9-8847D5CF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2907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FFFFFF"/>
                </a:solidFill>
                <a:latin typeface="Outfit"/>
                <a:ea typeface="Outfit"/>
                <a:cs typeface="Outfit"/>
              </a:defRPr>
            </a:pPr>
            <a:r>
              <a:rPr sz="1500" b="0">
                <a:solidFill>
                  <a:srgbClr val="FFFFFF"/>
                </a:solidFill>
                <a:latin typeface="Outfit"/>
                <a:ea typeface="Outfit"/>
                <a:cs typeface="Outfit"/>
              </a:rPr>
              <a:t>PolicyGuard · fallback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803CFD-792D-4D76-8566-9B4CB2CD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52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F31299-BA51-49AE-AB27-07E42C34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2907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FFFFFF"/>
                </a:solidFill>
                <a:latin typeface="Outfit"/>
                <a:ea typeface="Outfit"/>
                <a:cs typeface="Outfit"/>
              </a:defRPr>
            </a:pPr>
            <a:r>
              <a:rPr sz="1500" b="0">
                <a:solidFill>
                  <a:srgbClr val="FFFFFF"/>
                </a:solidFill>
                <a:latin typeface="Outfit"/>
                <a:ea typeface="Outfit"/>
                <a:cs typeface="Outfit"/>
              </a:rPr>
              <a:t>tamper · replay · nonce reuse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D5E813-6362-48E7-B8C3-50EAF399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5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B3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FD9D9A-201A-4034-B4C7-B745C167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8152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FFFFFF"/>
                </a:solidFill>
                <a:latin typeface="Outfit"/>
                <a:ea typeface="Outfit"/>
                <a:cs typeface="Outfit"/>
              </a:defRPr>
            </a:pPr>
            <a:r>
              <a:rPr sz="1500" b="0">
                <a:solidFill>
                  <a:srgbClr val="FFFFFF"/>
                </a:solidFill>
                <a:latin typeface="Outfit"/>
                <a:ea typeface="Outfit"/>
                <a:cs typeface="Outfit"/>
              </a:rPr>
              <a:t>SETTLED 이전 finalPrice 비공개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070D75-DEC0-4149-B864-9D2D5CD3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57750"/>
            <a:ext cx="4095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9EE002-CC9A-490E-A5F0-A4F33C50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57775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D0B36C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D0B36C"/>
                </a:solidFill>
                <a:latin typeface="Pretendard"/>
                <a:ea typeface="Pretendard"/>
                <a:cs typeface="Pretendard"/>
              </a:rPr>
              <a:t>OpenAI endpoint 도달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D0B36C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D0B36C"/>
                </a:solidFill>
                <a:latin typeface="Pretendard"/>
                <a:ea typeface="Pretendard"/>
                <a:cs typeface="Pretendard"/>
              </a:rPr>
              <a:t>429 insufficient_quota · 실제 품질 재검증 필요</a:t>
            </a:r>
          </a:p>
        </p:txBody>
      </p:sp>
    </p:spTree>
    <p:extLst>
      <p:ext uri="{BB962C8B-B14F-4D97-AF65-F5344CB8AC3E}">
        <p14:creationId xmlns:p14="http://schemas.microsoft.com/office/powerpoint/2010/main" val="4433993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be38f82adc4c68"/>
          <a:stretch xmlns:a="http://schemas.openxmlformats.org/drawingml/2006/main"/>
        </p:blipFill>
        <p:spPr>
          <a:xfrm xmlns:a="http://schemas.openxmlformats.org/drawingml/2006/main">
            <a:off x="609600" y="415123"/>
            <a:ext cx="1619250" cy="35085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6B253-F078-4878-82A3-63BA1390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6667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다음 단계는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신뢰 경계를 더 줄이는 것이다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196F8-DF68-4170-9F5A-63ECD406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0000FE"/>
                </a:solidFill>
                <a:latin typeface="Outfit"/>
                <a:ea typeface="Outfit"/>
                <a:cs typeface="Outfit"/>
              </a:defRPr>
            </a:pPr>
            <a:r>
              <a:rPr sz="1125" b="1">
                <a:solidFill>
                  <a:srgbClr val="0000FE"/>
                </a:solidFill>
                <a:latin typeface="Outfit"/>
                <a:ea typeface="Outfit"/>
                <a:cs typeface="Outfit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A7CA64-3CDC-43E9-B0B3-E4BFB089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432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1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실제 모델 scenario 재검증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E772A8-9FB5-4F03-98B8-6B51F23B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9C9C9C"/>
                </a:solidFill>
                <a:latin typeface="Outfit"/>
                <a:ea typeface="Outfit"/>
                <a:cs typeface="Outfit"/>
              </a:defRPr>
            </a:pPr>
            <a:r>
              <a:rPr sz="1275" b="0">
                <a:solidFill>
                  <a:srgbClr val="9C9C9C"/>
                </a:solidFill>
                <a:latin typeface="Outfit"/>
                <a:ea typeface="Outfit"/>
                <a:cs typeface="Outfit"/>
              </a:rPr>
              <a:t>quota 복구 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092E4-DFDF-4BD8-A330-BD652BFF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0000FE"/>
                </a:solidFill>
                <a:latin typeface="Outfit"/>
                <a:ea typeface="Outfit"/>
                <a:cs typeface="Outfit"/>
              </a:defRPr>
            </a:pPr>
            <a:r>
              <a:rPr sz="1125" b="1">
                <a:solidFill>
                  <a:srgbClr val="0000FE"/>
                </a:solidFill>
                <a:latin typeface="Outfit"/>
                <a:ea typeface="Outfit"/>
                <a:cs typeface="Outfit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1BB014-F716-42D3-B0A1-E8584927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862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1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공개 Midnight 네트워크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E8D099-139E-4A4D-940B-CD581553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9C9C9C"/>
                </a:solidFill>
                <a:latin typeface="Outfit"/>
                <a:ea typeface="Outfit"/>
                <a:cs typeface="Outfit"/>
              </a:defRPr>
            </a:pPr>
            <a:r>
              <a:rPr sz="1275" b="0">
                <a:solidFill>
                  <a:srgbClr val="9C9C9C"/>
                </a:solidFill>
                <a:latin typeface="Outfit"/>
                <a:ea typeface="Outfit"/>
                <a:cs typeface="Outfit"/>
              </a:rPr>
              <a:t>배포·explorer 검증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340505-8BAD-4EC7-B59F-3E9B95FF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0000FE"/>
                </a:solidFill>
                <a:latin typeface="Outfit"/>
                <a:ea typeface="Outfit"/>
                <a:cs typeface="Outfit"/>
              </a:defRPr>
            </a:pPr>
            <a:r>
              <a:rPr sz="1125" b="1">
                <a:solidFill>
                  <a:srgbClr val="0000FE"/>
                </a:solidFill>
                <a:latin typeface="Outfit"/>
                <a:ea typeface="Outfit"/>
                <a:cs typeface="Outfit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D46739-DB02-4DF9-A785-24BA71D9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291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1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로컬 또는 전용 inference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C3782A-4FA9-4F3F-9130-66F023D7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857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9C9C9C"/>
                </a:solidFill>
                <a:latin typeface="Outfit"/>
                <a:ea typeface="Outfit"/>
                <a:cs typeface="Outfit"/>
              </a:defRPr>
            </a:pPr>
            <a:r>
              <a:rPr sz="1275" b="0">
                <a:solidFill>
                  <a:srgbClr val="9C9C9C"/>
                </a:solidFill>
                <a:latin typeface="Outfit"/>
                <a:ea typeface="Outfit"/>
                <a:cs typeface="Outfit"/>
              </a:rPr>
              <a:t>provider 교체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609CB6-F011-43BB-B948-A7AD2DFF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3350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E62A34-022E-4A32-BED0-B23134F4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192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9A9AFF"/>
                </a:solidFill>
                <a:latin typeface="Outfit"/>
                <a:ea typeface="Outfit"/>
                <a:cs typeface="Outfit"/>
              </a:defRPr>
            </a:pPr>
            <a:r>
              <a:rPr sz="2850" b="1">
                <a:solidFill>
                  <a:srgbClr val="9A9AFF"/>
                </a:solidFill>
                <a:latin typeface="Outfit"/>
                <a:ea typeface="Outfit"/>
                <a:cs typeface="Outfit"/>
              </a:rPr>
              <a:t>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EE66E3-9B4D-4556-8290-970F8570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52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9C9C9C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9C9C9C"/>
                </a:solidFill>
                <a:latin typeface="Pretendard"/>
                <a:ea typeface="Pretendard"/>
                <a:cs typeface="Pretendard"/>
              </a:rPr>
              <a:t>후보를 만들고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E115AB-6FC5-463B-ABE6-C33C4283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765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D0B36C"/>
                </a:solidFill>
                <a:latin typeface="Outfit"/>
                <a:ea typeface="Outfit"/>
                <a:cs typeface="Outfit"/>
              </a:defRPr>
            </a:pPr>
            <a:r>
              <a:rPr sz="2850" b="1">
                <a:solidFill>
                  <a:srgbClr val="D0B36C"/>
                </a:solidFill>
                <a:latin typeface="Outfit"/>
                <a:ea typeface="Outfit"/>
                <a:cs typeface="Outfit"/>
              </a:rPr>
              <a:t>LOCAL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967814-5492-44C7-826D-1F5FAB01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09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9C9C9C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9C9C9C"/>
                </a:solidFill>
                <a:latin typeface="Pretendard"/>
                <a:ea typeface="Pretendard"/>
                <a:cs typeface="Pretendard"/>
              </a:rPr>
              <a:t>정책이 결정하며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F17487-1E1A-44F6-8713-FD740AD8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338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9FB8A3"/>
                </a:solidFill>
                <a:latin typeface="Outfit"/>
                <a:ea typeface="Outfit"/>
                <a:cs typeface="Outfit"/>
              </a:defRPr>
            </a:pPr>
            <a:r>
              <a:rPr sz="2400" b="1">
                <a:solidFill>
                  <a:srgbClr val="9FB8A3"/>
                </a:solidFill>
                <a:latin typeface="Outfit"/>
                <a:ea typeface="Outfit"/>
                <a:cs typeface="Outfit"/>
              </a:rPr>
              <a:t>MIDNIGHT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F36475-31D2-41C5-8F6B-D6009BF0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672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9C9C9C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9C9C9C"/>
                </a:solidFill>
                <a:latin typeface="Pretendard"/>
                <a:ea typeface="Pretendard"/>
                <a:cs typeface="Pretendard"/>
              </a:rPr>
              <a:t>결과를 증명한다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C0EB51-6FDE-496A-B5C1-E48F27E2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EA6296-D7A0-4D96-9F97-658E53B9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1">
                <a:solidFill>
                  <a:srgbClr val="666666"/>
                </a:solidFill>
                <a:latin typeface="Outfit"/>
                <a:ea typeface="Outfit"/>
                <a:cs typeface="Outfit"/>
              </a:defRPr>
            </a:pPr>
            <a:r>
              <a:rPr sz="825" b="1">
                <a:solidFill>
                  <a:srgbClr val="666666"/>
                </a:solidFill>
                <a:latin typeface="Outfit"/>
                <a:ea typeface="Outfit"/>
                <a:cs typeface="Outfit"/>
              </a:rPr>
              <a:t>TRUST BOUNDARY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1E5348-2B09-44A9-A332-AC3E11E5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6666"/>
                </a:solidFill>
                <a:latin typeface="Outfit"/>
                <a:ea typeface="Outfit"/>
                <a:cs typeface="Outfit"/>
              </a:defRPr>
            </a:pPr>
            <a:r>
              <a:rPr sz="825" b="0">
                <a:solidFill>
                  <a:srgbClr val="666666"/>
                </a:solidFill>
                <a:latin typeface="Outfit"/>
                <a:ea typeface="Outfit"/>
                <a:cs typeface="Outfi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42695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2026-07-25T23:04:11.9270000Z</dcterms:created>
  <dcterms:modified xsi:type="dcterms:W3CDTF">2026-07-25T23:04:11.9270000Z</dcterms:modified>
</coreProperties>
</file>